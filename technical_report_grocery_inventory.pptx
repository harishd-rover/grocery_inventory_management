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97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9745B"/>
                </a:solidFill>
              </a:defRPr>
            </a:pPr>
            <a:r>
              <a:t>ENGINEERING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8046720" cy="12344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3800" b="1">
                <a:solidFill>
                  <a:srgbClr val="1C2522"/>
                </a:solidFill>
                <a:latin typeface="Aptos"/>
              </a:defRPr>
            </a:pPr>
            <a:r>
              <a:t>Grocery Inventory</a:t>
            </a:r>
            <a:br/>
            <a:r>
              <a:t>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64008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900" b="1">
                <a:solidFill>
                  <a:srgbClr val="29745B"/>
                </a:solidFill>
                <a:latin typeface="Aptos"/>
              </a:defRPr>
            </a:pPr>
            <a:r>
              <a:t>Technical architecture and delivery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46120"/>
            <a:ext cx="6858000" cy="685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500" b="0">
                <a:solidFill>
                  <a:srgbClr val="5B6962"/>
                </a:solidFill>
                <a:latin typeface="Aptos"/>
              </a:defRPr>
            </a:pPr>
            <a:r>
              <a:t>A code-grounded review of the React/Vite frontend, Flask REST API,</a:t>
            </a:r>
            <a:br/>
            <a:r>
              <a:t>current runtime behavior, risks, and recommended path to production.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58200" y="1417320"/>
            <a:ext cx="28803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8D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58200" y="1417320"/>
            <a:ext cx="73152" cy="1097280"/>
          </a:xfrm>
          <a:prstGeom prst="rect">
            <a:avLst/>
          </a:prstGeom>
          <a:solidFill>
            <a:srgbClr val="376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0" y="1600200"/>
            <a:ext cx="2468879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500" b="1">
                <a:solidFill>
                  <a:srgbClr val="1C2522"/>
                </a:solidFill>
                <a:latin typeface="Aptos"/>
              </a:defRPr>
            </a:pPr>
            <a:r>
              <a:t>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1984248"/>
            <a:ext cx="2468879" cy="38404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00" b="0">
                <a:solidFill>
                  <a:srgbClr val="5B6962"/>
                </a:solidFill>
                <a:latin typeface="Aptos"/>
              </a:defRPr>
            </a:pPr>
            <a:r>
              <a:t>React + Vite</a:t>
            </a:r>
            <a:br/>
            <a:r>
              <a:t>Flask + Flask-CORS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58200" y="2788920"/>
            <a:ext cx="28803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8D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458200" y="2788920"/>
            <a:ext cx="73152" cy="1097280"/>
          </a:xfrm>
          <a:prstGeom prst="rect">
            <a:avLst/>
          </a:prstGeom>
          <a:solidFill>
            <a:srgbClr val="CA8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0" y="2971800"/>
            <a:ext cx="2468879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500" b="1">
                <a:solidFill>
                  <a:srgbClr val="1C2522"/>
                </a:solidFill>
                <a:latin typeface="Aptos"/>
              </a:defRPr>
            </a:pPr>
            <a:r>
              <a:t>CURRENT 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3355848"/>
            <a:ext cx="2468879" cy="38404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00" b="0">
                <a:solidFill>
                  <a:srgbClr val="5B6962"/>
                </a:solidFill>
                <a:latin typeface="Aptos"/>
              </a:defRPr>
            </a:pPr>
            <a:r>
              <a:t>Functional prototype</a:t>
            </a:r>
            <a:br/>
            <a:r>
              <a:t>In-memory persistence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58200" y="4160520"/>
            <a:ext cx="28803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8D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458200" y="4160520"/>
            <a:ext cx="73152" cy="1097280"/>
          </a:xfrm>
          <a:prstGeom prst="rect">
            <a:avLst/>
          </a:prstGeom>
          <a:solidFill>
            <a:srgbClr val="297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0" y="4343400"/>
            <a:ext cx="2468879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500" b="1">
                <a:solidFill>
                  <a:srgbClr val="1C2522"/>
                </a:solidFill>
                <a:latin typeface="Aptos"/>
              </a:defRPr>
            </a:pPr>
            <a:r>
              <a:t>REVIEW 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4727448"/>
            <a:ext cx="2468879" cy="38404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00" b="0">
                <a:solidFill>
                  <a:srgbClr val="5B6962"/>
                </a:solidFill>
                <a:latin typeface="Aptos"/>
              </a:defRPr>
            </a:pPr>
            <a:r>
              <a:t>23 August 2026</a:t>
            </a:r>
            <a:br/>
            <a:r>
              <a:t>Source snapshot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" y="6547104"/>
            <a:ext cx="11064240" cy="164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00" b="0">
                <a:solidFill>
                  <a:srgbClr val="5B6962"/>
                </a:solidFill>
                <a:latin typeface="Aptos"/>
              </a:defRPr>
            </a:pPr>
            <a:r>
              <a:t>Grocery Inventory Management  |  23 Aug 2026  |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97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9745B"/>
                </a:solidFill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06424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2700" b="1">
                <a:solidFill>
                  <a:srgbClr val="1C2522"/>
                </a:solidFill>
                <a:latin typeface="Aptos"/>
              </a:defRPr>
            </a:pPr>
            <a:r>
              <a:t>The product works as a focused prototype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25296"/>
            <a:ext cx="1078992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0">
                <a:solidFill>
                  <a:srgbClr val="5B6962"/>
                </a:solidFill>
                <a:latin typeface="Aptos"/>
              </a:defRPr>
            </a:pPr>
            <a:r>
              <a:t>The core inventory workflow is present; production readiness is limited by state, validation, and operational controls.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28800"/>
            <a:ext cx="35204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8D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828800"/>
            <a:ext cx="73152" cy="1965960"/>
          </a:xfrm>
          <a:prstGeom prst="rect">
            <a:avLst/>
          </a:prstGeom>
          <a:solidFill>
            <a:srgbClr val="297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31089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500" b="1">
                <a:solidFill>
                  <a:srgbClr val="1C2522"/>
                </a:solidFill>
                <a:latin typeface="Aptos"/>
              </a:defRPr>
            </a:pPr>
            <a:r>
              <a:t>WHAT IS STRONG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95728"/>
            <a:ext cx="3108960" cy="125272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00" b="0">
                <a:solidFill>
                  <a:srgbClr val="5B6962"/>
                </a:solidFill>
                <a:latin typeface="Aptos"/>
              </a:defRPr>
            </a:pPr>
            <a:r>
              <a:t>Clear user journey from login to inventory, purchasing, billing, and reporting. Server-side role checks exist, and password hashes plus random bearer tokens are used.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828800"/>
            <a:ext cx="35204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8D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828800"/>
            <a:ext cx="73152" cy="1965960"/>
          </a:xfrm>
          <a:prstGeom prst="rect">
            <a:avLst/>
          </a:prstGeom>
          <a:solidFill>
            <a:srgbClr val="CA8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011680"/>
            <a:ext cx="31089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500" b="1">
                <a:solidFill>
                  <a:srgbClr val="1C2522"/>
                </a:solidFill>
                <a:latin typeface="Aptos"/>
              </a:defRPr>
            </a:pPr>
            <a:r>
              <a:t>PRIMARY CONSTRAINT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395728"/>
            <a:ext cx="3108960" cy="125272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00" b="0">
                <a:solidFill>
                  <a:srgbClr val="5B6962"/>
                </a:solidFill>
                <a:latin typeface="Aptos"/>
              </a:defRPr>
            </a:pPr>
            <a:r>
              <a:t>All operational collections are process-local Python lists. Seed JSON is reference-only and is not loaded. A restart erases products, suppliers, purchases, and sales.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828800"/>
            <a:ext cx="35204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8D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828800"/>
            <a:ext cx="73152" cy="1965960"/>
          </a:xfrm>
          <a:prstGeom prst="rect">
            <a:avLst/>
          </a:prstGeom>
          <a:solidFill>
            <a:srgbClr val="B14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2011680"/>
            <a:ext cx="31089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500" b="1">
                <a:solidFill>
                  <a:srgbClr val="1C2522"/>
                </a:solidFill>
                <a:latin typeface="Aptos"/>
              </a:defRPr>
            </a:pPr>
            <a:r>
              <a:t>RELEASE SIGNAL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395728"/>
            <a:ext cx="3108960" cy="125272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00" b="0">
                <a:solidFill>
                  <a:srgbClr val="5B6962"/>
                </a:solidFill>
                <a:latin typeface="Aptos"/>
              </a:defRPr>
            </a:pPr>
            <a:r>
              <a:t>Frontend production build succeeds. No automated tests were found. The next investment should be a persistence and contract-testing foundation before feature expansion.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343400"/>
            <a:ext cx="20116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400" b="1">
                <a:solidFill>
                  <a:srgbClr val="5B6962"/>
                </a:solidFill>
                <a:latin typeface="Aptos"/>
              </a:defRPr>
            </a:pPr>
            <a:r>
              <a:t>Overall assessment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736592"/>
            <a:ext cx="676656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2500" b="1">
                <a:solidFill>
                  <a:srgbClr val="1C2522"/>
                </a:solidFill>
                <a:latin typeface="Aptos"/>
              </a:defRPr>
            </a:pPr>
            <a:r>
              <a:t>Prototype-ready  →  Not yet production-ready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5440680"/>
            <a:ext cx="1033272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0">
                <a:solidFill>
                  <a:srgbClr val="5B6962"/>
                </a:solidFill>
                <a:latin typeface="Aptos"/>
              </a:defRPr>
            </a:pPr>
            <a:r>
              <a:t>Confidence: high for structure and observed code paths; runtime behavior should be confirmed with endpoint smoke tests and browser checks.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6547104"/>
            <a:ext cx="11064240" cy="164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00" b="0">
                <a:solidFill>
                  <a:srgbClr val="5B6962"/>
                </a:solidFill>
                <a:latin typeface="Aptos"/>
              </a:defRPr>
            </a:pPr>
            <a:r>
              <a:t>Grocery Inventory Management  |  23 Aug 2026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97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9745B"/>
                </a:solidFill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06424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2700" b="1">
                <a:solidFill>
                  <a:srgbClr val="1C2522"/>
                </a:solidFill>
                <a:latin typeface="Aptos"/>
              </a:defRPr>
            </a:pPr>
            <a:r>
              <a:t>Simple boundary today, thin domain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25296"/>
            <a:ext cx="1078992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0">
                <a:solidFill>
                  <a:srgbClr val="5B6962"/>
                </a:solidFill>
                <a:latin typeface="Aptos"/>
              </a:defRPr>
            </a:pPr>
            <a:r>
              <a:t>The API boundary is the right migration seam, but business rules currently live inside one Flask module.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2834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8D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920240"/>
            <a:ext cx="73152" cy="2011680"/>
          </a:xfrm>
          <a:prstGeom prst="rect">
            <a:avLst/>
          </a:prstGeom>
          <a:solidFill>
            <a:srgbClr val="376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03120"/>
            <a:ext cx="24231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500" b="1">
                <a:solidFill>
                  <a:srgbClr val="1C2522"/>
                </a:solidFill>
                <a:latin typeface="Aptos"/>
              </a:defRPr>
            </a:pPr>
            <a:r>
              <a:t>BROWSER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87168"/>
            <a:ext cx="2423160" cy="12984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00" b="0">
                <a:solidFill>
                  <a:srgbClr val="5B6962"/>
                </a:solidFill>
                <a:latin typeface="Aptos"/>
              </a:defRPr>
            </a:pPr>
            <a:r>
              <a:t>React single-page app</a:t>
            </a:r>
            <a:br/>
            <a:r>
              <a:t>App owns auth, page state, loading, modals</a:t>
            </a:r>
            <a:br/>
            <a:r>
              <a:t>localStorage holds token + user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1920240"/>
            <a:ext cx="2834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8D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63440" y="1920240"/>
            <a:ext cx="73152" cy="2011680"/>
          </a:xfrm>
          <a:prstGeom prst="rect">
            <a:avLst/>
          </a:prstGeom>
          <a:solidFill>
            <a:srgbClr val="297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92040" y="2103120"/>
            <a:ext cx="24231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500" b="1">
                <a:solidFill>
                  <a:srgbClr val="1C2522"/>
                </a:solidFill>
                <a:latin typeface="Aptos"/>
              </a:defRPr>
            </a:pPr>
            <a:r>
              <a:t>HTTP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2487168"/>
            <a:ext cx="2423160" cy="12984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00" b="0">
                <a:solidFill>
                  <a:srgbClr val="5B6962"/>
                </a:solidFill>
                <a:latin typeface="Aptos"/>
              </a:defRPr>
            </a:pPr>
            <a:r>
              <a:t>Flask routes under /api</a:t>
            </a:r>
            <a:br/>
            <a:r>
              <a:t>Bearer auth decorator</a:t>
            </a:r>
            <a:br/>
            <a:r>
              <a:t>CORS enabled globally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0" y="1920240"/>
            <a:ext cx="2834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8D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686800" y="1920240"/>
            <a:ext cx="73152" cy="2011680"/>
          </a:xfrm>
          <a:prstGeom prst="rect">
            <a:avLst/>
          </a:prstGeom>
          <a:solidFill>
            <a:srgbClr val="CA8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15400" y="2103120"/>
            <a:ext cx="24231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500" b="1">
                <a:solidFill>
                  <a:srgbClr val="1C2522"/>
                </a:solidFill>
                <a:latin typeface="Aptos"/>
              </a:defRPr>
            </a:pPr>
            <a:r>
              <a:t>RUNTIME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15400" y="2487168"/>
            <a:ext cx="2423160" cy="12984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00" b="0">
                <a:solidFill>
                  <a:srgbClr val="5B6962"/>
                </a:solidFill>
                <a:latin typeface="Aptos"/>
              </a:defRPr>
            </a:pPr>
            <a:r>
              <a:t>Python lists: products, suppliers, purchases, sales</a:t>
            </a:r>
            <a:br/>
            <a:r>
              <a:t>Python dict: users, active_tokens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3611880" y="2606040"/>
            <a:ext cx="777240" cy="502920"/>
          </a:xfrm>
          <a:prstGeom prst="rightArrow">
            <a:avLst/>
          </a:prstGeom>
          <a:solidFill>
            <a:srgbClr val="B8D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ight Arrow 18"/>
          <p:cNvSpPr/>
          <p:nvPr/>
        </p:nvSpPr>
        <p:spPr>
          <a:xfrm>
            <a:off x="7635240" y="2606040"/>
            <a:ext cx="777240" cy="502920"/>
          </a:xfrm>
          <a:prstGeom prst="rightArrow">
            <a:avLst/>
          </a:prstGeom>
          <a:solidFill>
            <a:srgbClr val="B8D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83280" y="4800600"/>
            <a:ext cx="539496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2000" b="1">
                <a:solidFill>
                  <a:srgbClr val="29745B"/>
                </a:solidFill>
                <a:latin typeface="Aptos"/>
              </a:defRPr>
            </a:pPr>
            <a:r>
              <a:t>Future target: route → service/repository → MySQL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577840"/>
            <a:ext cx="102412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100" b="0">
                <a:solidFill>
                  <a:srgbClr val="5B6962"/>
                </a:solidFill>
                <a:latin typeface="Aptos"/>
              </a:defRPr>
            </a:pPr>
            <a:r>
              <a:t>Verified files: frontend/src/main.jsx, frontend/vite.config.js, backend/app.py, database/seed_data.json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" y="6547104"/>
            <a:ext cx="11064240" cy="164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00" b="0">
                <a:solidFill>
                  <a:srgbClr val="5B6962"/>
                </a:solidFill>
                <a:latin typeface="Aptos"/>
              </a:defRPr>
            </a:pPr>
            <a:r>
              <a:t>Grocery Inventory Management  |  23 Aug 2026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97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9745B"/>
                </a:solidFill>
              </a:defRPr>
            </a:pPr>
            <a:r>
              <a:t>RUNTIME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06424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2700" b="1">
                <a:solidFill>
                  <a:srgbClr val="1C2522"/>
                </a:solidFill>
                <a:latin typeface="Aptos"/>
              </a:defRPr>
            </a:pPr>
            <a:r>
              <a:t>Authentication and data loading are centralized in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25296"/>
            <a:ext cx="1078992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0">
                <a:solidFill>
                  <a:srgbClr val="5B6962"/>
                </a:solidFill>
                <a:latin typeface="Aptos"/>
              </a:defRPr>
            </a:pPr>
            <a:r>
              <a:t>One load cycle fans out to the summary and operational collections; failures are tolerated individually.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194560"/>
            <a:ext cx="566928" cy="566928"/>
          </a:xfrm>
          <a:prstGeom prst="ellipse">
            <a:avLst/>
          </a:prstGeom>
          <a:solidFill>
            <a:srgbClr val="297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340864"/>
            <a:ext cx="566928" cy="164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71800"/>
            <a:ext cx="18288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500" b="1">
                <a:solidFill>
                  <a:srgbClr val="1C2522"/>
                </a:solidFill>
                <a:latin typeface="Aptos"/>
              </a:defRPr>
            </a:pPr>
            <a:r>
              <a:t>Login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01568"/>
            <a:ext cx="1828800" cy="594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0">
                <a:solidFill>
                  <a:srgbClr val="5B6962"/>
                </a:solidFill>
                <a:latin typeface="Aptos"/>
              </a:defRPr>
            </a:pPr>
            <a:r>
              <a:t>POST /api/auth/login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057400" y="2340864"/>
            <a:ext cx="621792" cy="228600"/>
          </a:xfrm>
          <a:prstGeom prst="rightArrow">
            <a:avLst/>
          </a:prstGeom>
          <a:solidFill>
            <a:srgbClr val="D8D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907791" y="2194560"/>
            <a:ext cx="566928" cy="566928"/>
          </a:xfrm>
          <a:prstGeom prst="ellipse">
            <a:avLst/>
          </a:prstGeom>
          <a:solidFill>
            <a:srgbClr val="297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07791" y="2340864"/>
            <a:ext cx="566928" cy="164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07791" y="2971800"/>
            <a:ext cx="18288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500" b="1">
                <a:solidFill>
                  <a:srgbClr val="1C2522"/>
                </a:solidFill>
                <a:latin typeface="Aptos"/>
              </a:defRPr>
            </a:pPr>
            <a:r>
              <a:t>Persist session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07791" y="3401568"/>
            <a:ext cx="1828800" cy="594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0">
                <a:solidFill>
                  <a:srgbClr val="5B6962"/>
                </a:solidFill>
                <a:latin typeface="Aptos"/>
              </a:defRPr>
            </a:pPr>
            <a:r>
              <a:t>localStorage token + user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325112" y="2340864"/>
            <a:ext cx="621792" cy="228600"/>
          </a:xfrm>
          <a:prstGeom prst="rightArrow">
            <a:avLst/>
          </a:prstGeom>
          <a:solidFill>
            <a:srgbClr val="D8D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175504" y="2194560"/>
            <a:ext cx="566928" cy="566928"/>
          </a:xfrm>
          <a:prstGeom prst="ellipse">
            <a:avLst/>
          </a:prstGeom>
          <a:solidFill>
            <a:srgbClr val="297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75504" y="2340864"/>
            <a:ext cx="566928" cy="164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75504" y="2971800"/>
            <a:ext cx="18288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500" b="1">
                <a:solidFill>
                  <a:srgbClr val="1C2522"/>
                </a:solidFill>
                <a:latin typeface="Aptos"/>
              </a:defRPr>
            </a:pPr>
            <a:r>
              <a:t>Load workspace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75504" y="3401568"/>
            <a:ext cx="1828800" cy="594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0">
                <a:solidFill>
                  <a:srgbClr val="5B6962"/>
                </a:solidFill>
                <a:latin typeface="Aptos"/>
              </a:defRPr>
            </a:pPr>
            <a:r>
              <a:t>Promise.allSettled across 6 requests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592824" y="2340864"/>
            <a:ext cx="621792" cy="228600"/>
          </a:xfrm>
          <a:prstGeom prst="rightArrow">
            <a:avLst/>
          </a:prstGeom>
          <a:solidFill>
            <a:srgbClr val="D8D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443215" y="2194560"/>
            <a:ext cx="566928" cy="566928"/>
          </a:xfrm>
          <a:prstGeom prst="ellipse">
            <a:avLst/>
          </a:prstGeom>
          <a:solidFill>
            <a:srgbClr val="297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43215" y="2340864"/>
            <a:ext cx="566928" cy="164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43215" y="2971800"/>
            <a:ext cx="18288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500" b="1">
                <a:solidFill>
                  <a:srgbClr val="1C2522"/>
                </a:solidFill>
                <a:latin typeface="Aptos"/>
              </a:defRPr>
            </a:pPr>
            <a:r>
              <a:t>Mutate stock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43215" y="3401568"/>
            <a:ext cx="1828800" cy="594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0">
                <a:solidFill>
                  <a:srgbClr val="5B6962"/>
                </a:solidFill>
                <a:latin typeface="Aptos"/>
              </a:defRPr>
            </a:pPr>
            <a:r>
              <a:t>Purchase adds; sale subtracts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8860536" y="2340864"/>
            <a:ext cx="621792" cy="228600"/>
          </a:xfrm>
          <a:prstGeom prst="rightArrow">
            <a:avLst/>
          </a:prstGeom>
          <a:solidFill>
            <a:srgbClr val="D8D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710928" y="2194560"/>
            <a:ext cx="566928" cy="566928"/>
          </a:xfrm>
          <a:prstGeom prst="ellipse">
            <a:avLst/>
          </a:prstGeom>
          <a:solidFill>
            <a:srgbClr val="297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10928" y="2340864"/>
            <a:ext cx="566928" cy="164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10928" y="2971800"/>
            <a:ext cx="18288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500" b="1">
                <a:solidFill>
                  <a:srgbClr val="1C2522"/>
                </a:solidFill>
                <a:latin typeface="Aptos"/>
              </a:defRPr>
            </a:pPr>
            <a:r>
              <a:t>Refresh UI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10928" y="3401568"/>
            <a:ext cx="1828800" cy="594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0">
                <a:solidFill>
                  <a:srgbClr val="5B6962"/>
                </a:solidFill>
                <a:latin typeface="Aptos"/>
              </a:defRPr>
            </a:pPr>
            <a:r>
              <a:t>onSaved / onSold calls loadData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4663440"/>
            <a:ext cx="48463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8D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14400" y="4663440"/>
            <a:ext cx="73152" cy="914400"/>
          </a:xfrm>
          <a:prstGeom prst="rect">
            <a:avLst/>
          </a:prstGeom>
          <a:solidFill>
            <a:srgbClr val="297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4846320"/>
            <a:ext cx="443484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500" b="1">
                <a:solidFill>
                  <a:srgbClr val="1C2522"/>
                </a:solidFill>
                <a:latin typeface="Aptos"/>
              </a:defRPr>
            </a:pPr>
            <a:r>
              <a:t>GOOD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" y="5230368"/>
            <a:ext cx="4434840" cy="20116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0">
                <a:solidFill>
                  <a:srgbClr val="5B6962"/>
                </a:solidFill>
                <a:latin typeface="Aptos"/>
              </a:defRPr>
            </a:pPr>
            <a:r>
              <a:t>One request helper adds Authorization consistently and handles 401 expiry centrally.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55080" y="4663440"/>
            <a:ext cx="48463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8D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55080" y="4663440"/>
            <a:ext cx="73152" cy="914400"/>
          </a:xfrm>
          <a:prstGeom prst="rect">
            <a:avLst/>
          </a:prstGeom>
          <a:solidFill>
            <a:srgbClr val="B14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0" y="4846320"/>
            <a:ext cx="443484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500" b="1">
                <a:solidFill>
                  <a:srgbClr val="1C2522"/>
                </a:solidFill>
                <a:latin typeface="Aptos"/>
              </a:defRPr>
            </a:pPr>
            <a:r>
              <a:t>WATCH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5230368"/>
            <a:ext cx="4434840" cy="20116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0">
                <a:solidFill>
                  <a:srgbClr val="5B6962"/>
                </a:solidFill>
                <a:latin typeface="Aptos"/>
              </a:defRPr>
            </a:pPr>
            <a:r>
              <a:t>Promise.allSettled can leave partial or stale screens without surfacing which endpoint failed.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0352" y="6547104"/>
            <a:ext cx="11064240" cy="164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00" b="0">
                <a:solidFill>
                  <a:srgbClr val="5B6962"/>
                </a:solidFill>
                <a:latin typeface="Aptos"/>
              </a:defRPr>
            </a:pPr>
            <a:r>
              <a:t>Grocery Inventory Management  |  23 Aug 2026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97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9745B"/>
                </a:solidFill>
              </a:defRPr>
            </a:pPr>
            <a:r>
              <a:t>DOMAIN AND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06424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2700" b="1">
                <a:solidFill>
                  <a:srgbClr val="1C2522"/>
                </a:solidFill>
                <a:latin typeface="Aptos"/>
              </a:defRPr>
            </a:pPr>
            <a:r>
              <a:t>The API covers the core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25296"/>
            <a:ext cx="1078992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0">
                <a:solidFill>
                  <a:srgbClr val="5B6962"/>
                </a:solidFill>
                <a:latin typeface="Aptos"/>
              </a:defRPr>
            </a:pPr>
            <a:r>
              <a:t>Routes map cleanly to inventory, suppliers, purchasing, sales, users, and summary reporting.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83080"/>
            <a:ext cx="155448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00" b="1">
                <a:solidFill>
                  <a:srgbClr val="29745B"/>
                </a:solidFill>
                <a:latin typeface="Aptos"/>
              </a:defRPr>
            </a:pPr>
            <a:r>
              <a:t>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783080"/>
            <a:ext cx="39319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00" b="1">
                <a:solidFill>
                  <a:srgbClr val="29745B"/>
                </a:solidFill>
                <a:latin typeface="Aptos"/>
              </a:defRPr>
            </a:pPr>
            <a:r>
              <a:t>ROUTES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1783080"/>
            <a:ext cx="525780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00" b="1">
                <a:solidFill>
                  <a:srgbClr val="29745B"/>
                </a:solidFill>
                <a:latin typeface="Aptos"/>
              </a:defRPr>
            </a:pPr>
            <a:r>
              <a:t>POLICY / EFFECT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148839"/>
            <a:ext cx="1074420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2221991"/>
            <a:ext cx="1371600" cy="31089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1">
                <a:solidFill>
                  <a:srgbClr val="1C2522"/>
                </a:solidFill>
                <a:latin typeface="Aptos"/>
              </a:defRPr>
            </a:pPr>
            <a:r>
              <a:t>Auth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50008" y="2221991"/>
            <a:ext cx="3749039" cy="31089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0">
                <a:solidFill>
                  <a:srgbClr val="5B6962"/>
                </a:solidFill>
                <a:latin typeface="Aptos"/>
              </a:defRPr>
            </a:pPr>
            <a:r>
              <a:t>POST /auth/login  |  GET /auth/me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81928" y="2221991"/>
            <a:ext cx="5074920" cy="31089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0">
                <a:solidFill>
                  <a:srgbClr val="5B6962"/>
                </a:solidFill>
                <a:latin typeface="Aptos"/>
              </a:defRPr>
            </a:pPr>
            <a:r>
              <a:t>Bearer token; all protected routes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770632"/>
            <a:ext cx="10744200" cy="512064"/>
          </a:xfrm>
          <a:prstGeom prst="rect">
            <a:avLst/>
          </a:prstGeom>
          <a:solidFill>
            <a:srgbClr val="EE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2843784"/>
            <a:ext cx="1371600" cy="31089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1">
                <a:solidFill>
                  <a:srgbClr val="1C2522"/>
                </a:solidFill>
                <a:latin typeface="Aptos"/>
              </a:defRPr>
            </a:pPr>
            <a:r>
              <a:t>Catalog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50008" y="2843784"/>
            <a:ext cx="3749039" cy="31089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0">
                <a:solidFill>
                  <a:srgbClr val="5B6962"/>
                </a:solidFill>
                <a:latin typeface="Aptos"/>
              </a:defRPr>
            </a:pPr>
            <a:r>
              <a:t>GET /products  |  POST/PATCH /products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928" y="2843784"/>
            <a:ext cx="5074920" cy="31089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0">
                <a:solidFill>
                  <a:srgbClr val="5B6962"/>
                </a:solidFill>
                <a:latin typeface="Aptos"/>
              </a:defRPr>
            </a:pPr>
            <a:r>
              <a:t>Admin writes; authenticated reads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3392424"/>
            <a:ext cx="1074420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" y="3465576"/>
            <a:ext cx="1371600" cy="31089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1">
                <a:solidFill>
                  <a:srgbClr val="1C2522"/>
                </a:solidFill>
                <a:latin typeface="Aptos"/>
              </a:defRPr>
            </a:pPr>
            <a:r>
              <a:t>Operations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50008" y="3465576"/>
            <a:ext cx="3749039" cy="31089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0">
                <a:solidFill>
                  <a:srgbClr val="5B6962"/>
                </a:solidFill>
                <a:latin typeface="Aptos"/>
              </a:defRPr>
            </a:pPr>
            <a:r>
              <a:t>POST /purchases  |  POST /sales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81928" y="3465576"/>
            <a:ext cx="5074920" cy="31089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0">
                <a:solidFill>
                  <a:srgbClr val="5B6962"/>
                </a:solidFill>
                <a:latin typeface="Aptos"/>
              </a:defRPr>
            </a:pPr>
            <a:r>
              <a:t>Stock and supplier quantities mutate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4014215"/>
            <a:ext cx="10744200" cy="512064"/>
          </a:xfrm>
          <a:prstGeom prst="rect">
            <a:avLst/>
          </a:prstGeom>
          <a:solidFill>
            <a:srgbClr val="EE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8" y="4087368"/>
            <a:ext cx="1371600" cy="31089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1">
                <a:solidFill>
                  <a:srgbClr val="1C2522"/>
                </a:solidFill>
                <a:latin typeface="Aptos"/>
              </a:defRPr>
            </a:pPr>
            <a:r>
              <a:t>Reference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50008" y="4087368"/>
            <a:ext cx="3749039" cy="31089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0">
                <a:solidFill>
                  <a:srgbClr val="5B6962"/>
                </a:solidFill>
                <a:latin typeface="Aptos"/>
              </a:defRPr>
            </a:pPr>
            <a:r>
              <a:t>GET /suppliers  |  GET /categories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81928" y="4087368"/>
            <a:ext cx="5074920" cy="31089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0">
                <a:solidFill>
                  <a:srgbClr val="5B6962"/>
                </a:solidFill>
                <a:latin typeface="Aptos"/>
              </a:defRPr>
            </a:pPr>
            <a:r>
              <a:t>Supplier creation is admin-only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4636008"/>
            <a:ext cx="1074420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8" y="4709160"/>
            <a:ext cx="1371600" cy="31089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1">
                <a:solidFill>
                  <a:srgbClr val="1C2522"/>
                </a:solidFill>
                <a:latin typeface="Aptos"/>
              </a:defRPr>
            </a:pPr>
            <a:r>
              <a:t>Reporting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50008" y="4709160"/>
            <a:ext cx="3749039" cy="31089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0">
                <a:solidFill>
                  <a:srgbClr val="5B6962"/>
                </a:solidFill>
                <a:latin typeface="Aptos"/>
              </a:defRPr>
            </a:pPr>
            <a:r>
              <a:t>GET /summary  |  GET /sales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81928" y="4709160"/>
            <a:ext cx="5074920" cy="31089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0">
                <a:solidFill>
                  <a:srgbClr val="5B6962"/>
                </a:solidFill>
                <a:latin typeface="Aptos"/>
              </a:defRPr>
            </a:pPr>
            <a:r>
              <a:t>Summary includes today totals and profit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" y="5257800"/>
            <a:ext cx="10744200" cy="512064"/>
          </a:xfrm>
          <a:prstGeom prst="rect">
            <a:avLst/>
          </a:prstGeom>
          <a:solidFill>
            <a:srgbClr val="EE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5528" y="5330952"/>
            <a:ext cx="1371600" cy="31089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1">
                <a:solidFill>
                  <a:srgbClr val="1C2522"/>
                </a:solidFill>
                <a:latin typeface="Aptos"/>
              </a:defRPr>
            </a:pPr>
            <a:r>
              <a:t>Administration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50008" y="5330952"/>
            <a:ext cx="3749039" cy="31089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0">
                <a:solidFill>
                  <a:srgbClr val="5B6962"/>
                </a:solidFill>
                <a:latin typeface="Aptos"/>
              </a:defRPr>
            </a:pPr>
            <a:r>
              <a:t>CRUD /users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81928" y="5330952"/>
            <a:ext cx="5074920" cy="31089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0">
                <a:solidFill>
                  <a:srgbClr val="5B6962"/>
                </a:solidFill>
                <a:latin typeface="Aptos"/>
              </a:defRPr>
            </a:pPr>
            <a:r>
              <a:t>Admin-only user lifecycle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897880"/>
            <a:ext cx="107899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1">
                <a:solidFill>
                  <a:srgbClr val="B1463E"/>
                </a:solidFill>
                <a:latin typeface="Aptos"/>
              </a:defRPr>
            </a:pPr>
            <a:r>
              <a:t>Key contract gap: input validation is distributed inside handlers, with several direct int(...) conversions that can become 500 errors for malformed payloads.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0352" y="6547104"/>
            <a:ext cx="11064240" cy="164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00" b="0">
                <a:solidFill>
                  <a:srgbClr val="5B6962"/>
                </a:solidFill>
                <a:latin typeface="Aptos"/>
              </a:defRPr>
            </a:pPr>
            <a:r>
              <a:t>Grocery Inventory Management  |  23 Aug 2026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97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9745B"/>
                </a:solidFill>
              </a:defRPr>
            </a:pPr>
            <a:r>
              <a:t>DATA AND PERSISTENCE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06424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2700" b="1">
                <a:solidFill>
                  <a:srgbClr val="1C2522"/>
                </a:solidFill>
                <a:latin typeface="Aptos"/>
              </a:defRPr>
            </a:pPr>
            <a:r>
              <a:t>State is usable for demos, fragile for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25296"/>
            <a:ext cx="1078992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0">
                <a:solidFill>
                  <a:srgbClr val="5B6962"/>
                </a:solidFill>
                <a:latin typeface="Aptos"/>
              </a:defRPr>
            </a:pPr>
            <a:r>
              <a:t>The code has a workable conceptual model, but no durable source of truth or transactional boundary.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25146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8D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73152" cy="2057400"/>
          </a:xfrm>
          <a:prstGeom prst="rect">
            <a:avLst/>
          </a:prstGeom>
          <a:solidFill>
            <a:srgbClr val="297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65960"/>
            <a:ext cx="21031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500" b="1">
                <a:solidFill>
                  <a:srgbClr val="1C2522"/>
                </a:solidFill>
                <a:latin typeface="Aptos"/>
              </a:defRPr>
            </a:pPr>
            <a:r>
              <a:t>PRODUCT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50008"/>
            <a:ext cx="2103120" cy="1344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00" b="0">
                <a:solidFill>
                  <a:srgbClr val="5B6962"/>
                </a:solidFill>
                <a:latin typeface="Aptos"/>
              </a:defRPr>
            </a:pPr>
            <a:r>
              <a:t>id, sku, name, category, price, quantity, reorder_level, unit, supplier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783080"/>
            <a:ext cx="25146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8D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29000" y="1783080"/>
            <a:ext cx="73152" cy="2057400"/>
          </a:xfrm>
          <a:prstGeom prst="rect">
            <a:avLst/>
          </a:prstGeom>
          <a:solidFill>
            <a:srgbClr val="376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1965960"/>
            <a:ext cx="21031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500" b="1">
                <a:solidFill>
                  <a:srgbClr val="1C2522"/>
                </a:solidFill>
                <a:latin typeface="Aptos"/>
              </a:defRPr>
            </a:pPr>
            <a:r>
              <a:t>SUPPLIER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350008"/>
            <a:ext cx="2103120" cy="1344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00" b="0">
                <a:solidFill>
                  <a:srgbClr val="5B6962"/>
                </a:solidFill>
                <a:latin typeface="Aptos"/>
              </a:defRPr>
            </a:pPr>
            <a:r>
              <a:t>id, name, contact, products, supply_quantities, supply_prices, status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783080"/>
            <a:ext cx="25146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8D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783080"/>
            <a:ext cx="73152" cy="2057400"/>
          </a:xfrm>
          <a:prstGeom prst="rect">
            <a:avLst/>
          </a:prstGeom>
          <a:solidFill>
            <a:srgbClr val="CA8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965960"/>
            <a:ext cx="21031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500" b="1">
                <a:solidFill>
                  <a:srgbClr val="1C2522"/>
                </a:solidFill>
                <a:latin typeface="Aptos"/>
              </a:defRPr>
            </a:pPr>
            <a:r>
              <a:t>PURCHASE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350008"/>
            <a:ext cx="2103120" cy="1344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00" b="0">
                <a:solidFill>
                  <a:srgbClr val="5B6962"/>
                </a:solidFill>
                <a:latin typeface="Aptos"/>
              </a:defRPr>
            </a:pPr>
            <a:r>
              <a:t>id, supplier, products, total, date, status; increases stock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40" y="1783080"/>
            <a:ext cx="25146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8D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06840" y="1783080"/>
            <a:ext cx="73152" cy="2057400"/>
          </a:xfrm>
          <a:prstGeom prst="rect">
            <a:avLst/>
          </a:prstGeom>
          <a:solidFill>
            <a:srgbClr val="B14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1965960"/>
            <a:ext cx="21031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500" b="1">
                <a:solidFill>
                  <a:srgbClr val="1C2522"/>
                </a:solidFill>
                <a:latin typeface="Aptos"/>
              </a:defRPr>
            </a:pPr>
            <a:r>
              <a:t>SALE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2350008"/>
            <a:ext cx="2103120" cy="1344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00" b="0">
                <a:solidFill>
                  <a:srgbClr val="5B6962"/>
                </a:solidFill>
                <a:latin typeface="Aptos"/>
              </a:defRPr>
            </a:pPr>
            <a:r>
              <a:t>id, products, total, date; decreases stock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343400"/>
            <a:ext cx="20116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400" b="1">
                <a:solidFill>
                  <a:srgbClr val="5B6962"/>
                </a:solidFill>
                <a:latin typeface="Aptos"/>
              </a:defRPr>
            </a:pPr>
            <a:r>
              <a:t>Current behavior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4663440"/>
            <a:ext cx="6400800" cy="137160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C2522"/>
                </a:solidFill>
                <a:latin typeface="Aptos"/>
              </a:defRPr>
            </a:pPr>
            <a:r>
              <a:t>- Collections initialize empty in backend/app.py.</a:t>
            </a:r>
          </a:p>
          <a:p>
            <a:pPr>
              <a:spcAft>
                <a:spcPts val="1000"/>
              </a:spcAft>
              <a:defRPr sz="1400">
                <a:solidFill>
                  <a:srgbClr val="1C2522"/>
                </a:solidFill>
                <a:latin typeface="Aptos"/>
              </a:defRPr>
            </a:pPr>
            <a:r>
              <a:t>- database/seed_data.json is not loaded at startup.</a:t>
            </a:r>
          </a:p>
          <a:p>
            <a:pPr>
              <a:spcAft>
                <a:spcPts val="1000"/>
              </a:spcAft>
              <a:defRPr sz="1400">
                <a:solidFill>
                  <a:srgbClr val="1C2522"/>
                </a:solidFill>
                <a:latin typeface="Aptos"/>
              </a:defRPr>
            </a:pPr>
            <a:r>
              <a:t>- No migrations, repository, transaction, or concurrency protection.</a:t>
            </a:r>
          </a:p>
          <a:p>
            <a:pPr>
              <a:spcAft>
                <a:spcPts val="1000"/>
              </a:spcAft>
              <a:defRPr sz="1400">
                <a:solidFill>
                  <a:srgbClr val="1C2522"/>
                </a:solidFill>
                <a:latin typeface="Aptos"/>
              </a:defRPr>
            </a:pPr>
            <a:r>
              <a:t>- Profit today is revenue minus purchase totals, not COGS-based margin.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43800" y="4343400"/>
            <a:ext cx="20116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400" b="1">
                <a:solidFill>
                  <a:srgbClr val="5B6962"/>
                </a:solidFill>
                <a:latin typeface="Aptos"/>
              </a:defRPr>
            </a:pPr>
            <a:r>
              <a:t>Migration implication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43800" y="4681728"/>
            <a:ext cx="3840480" cy="10058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600" b="1">
                <a:solidFill>
                  <a:srgbClr val="1C2522"/>
                </a:solidFill>
                <a:latin typeface="Aptos"/>
              </a:defRPr>
            </a:pPr>
            <a:r>
              <a:t>Introduce a repository/service layer before MySQL. Preserve route contracts while moving stock adjustments into atomic transactions.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" y="6547104"/>
            <a:ext cx="11064240" cy="164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00" b="0">
                <a:solidFill>
                  <a:srgbClr val="5B6962"/>
                </a:solidFill>
                <a:latin typeface="Aptos"/>
              </a:defRPr>
            </a:pPr>
            <a:r>
              <a:t>Grocery Inventory Management  |  23 Aug 2026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97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9745B"/>
                </a:solidFill>
              </a:defRPr>
            </a:pPr>
            <a:r>
              <a:t>SECURITY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06424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2700" b="1">
                <a:solidFill>
                  <a:srgbClr val="1C2522"/>
                </a:solidFill>
                <a:latin typeface="Aptos"/>
              </a:defRPr>
            </a:pPr>
            <a:r>
              <a:t>Baseline controls exist; deployment controls do not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25296"/>
            <a:ext cx="1078992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0">
                <a:solidFill>
                  <a:srgbClr val="5B6962"/>
                </a:solidFill>
                <a:latin typeface="Aptos"/>
              </a:defRPr>
            </a:pPr>
            <a:r>
              <a:t>Authentication is present, but session lifecycle and production configuration need hardening.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3474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8D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73152" cy="1325880"/>
          </a:xfrm>
          <a:prstGeom prst="rect">
            <a:avLst/>
          </a:prstGeom>
          <a:solidFill>
            <a:srgbClr val="297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20240"/>
            <a:ext cx="3063239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500" b="1">
                <a:solidFill>
                  <a:srgbClr val="1C2522"/>
                </a:solidFill>
                <a:latin typeface="Aptos"/>
              </a:defRPr>
            </a:pPr>
            <a:r>
              <a:t>POSITIVE CONTROLS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04288"/>
            <a:ext cx="3063239" cy="61264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00" b="0">
                <a:solidFill>
                  <a:srgbClr val="5B6962"/>
                </a:solidFill>
                <a:latin typeface="Aptos"/>
              </a:defRPr>
            </a:pPr>
            <a:r>
              <a:t>Werkzeug password hashing</a:t>
            </a:r>
            <a:br/>
            <a:r>
              <a:t>secrets.token_urlsafe bearer tokens</a:t>
            </a:r>
            <a:br/>
            <a:r>
              <a:t>server-side role enforcement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737360"/>
            <a:ext cx="3474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8D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737360"/>
            <a:ext cx="73152" cy="1325880"/>
          </a:xfrm>
          <a:prstGeom prst="rect">
            <a:avLst/>
          </a:prstGeom>
          <a:solidFill>
            <a:srgbClr val="B14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920240"/>
            <a:ext cx="3063239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500" b="1">
                <a:solidFill>
                  <a:srgbClr val="1C2522"/>
                </a:solidFill>
                <a:latin typeface="Aptos"/>
              </a:defRPr>
            </a:pPr>
            <a:r>
              <a:t>HIGH PRIORITY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304288"/>
            <a:ext cx="3063239" cy="61264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00" b="0">
                <a:solidFill>
                  <a:srgbClr val="5B6962"/>
                </a:solidFill>
                <a:latin typeface="Aptos"/>
              </a:defRPr>
            </a:pPr>
            <a:r>
              <a:t>Non-expiring in-memory tokens</a:t>
            </a:r>
            <a:br/>
            <a:r>
              <a:t>Global open CORS</a:t>
            </a:r>
            <a:br/>
            <a:r>
              <a:t>Flask debug=True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737360"/>
            <a:ext cx="3474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8D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737360"/>
            <a:ext cx="73152" cy="1325880"/>
          </a:xfrm>
          <a:prstGeom prst="rect">
            <a:avLst/>
          </a:prstGeom>
          <a:solidFill>
            <a:srgbClr val="CA8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1920240"/>
            <a:ext cx="3063239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500" b="1">
                <a:solidFill>
                  <a:srgbClr val="1C2522"/>
                </a:solidFill>
                <a:latin typeface="Aptos"/>
              </a:defRPr>
            </a:pPr>
            <a:r>
              <a:t>CLIENT EXPOSURE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304288"/>
            <a:ext cx="3063239" cy="61264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00" b="0">
                <a:solidFill>
                  <a:srgbClr val="5B6962"/>
                </a:solidFill>
                <a:latin typeface="Aptos"/>
              </a:defRPr>
            </a:pPr>
            <a:r>
              <a:t>Bearer token in localStorage</a:t>
            </a:r>
            <a:br/>
            <a:r>
              <a:t>Demo credentials shown in login UI and README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977639"/>
            <a:ext cx="10515600" cy="146304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C2522"/>
                </a:solidFill>
                <a:latin typeface="Aptos"/>
              </a:defRPr>
            </a:pPr>
            <a:r>
              <a:t>- Add token expiry and revocation semantics backed by durable session storage.</a:t>
            </a:r>
          </a:p>
          <a:p>
            <a:pPr>
              <a:spcAft>
                <a:spcPts val="1000"/>
              </a:spcAft>
              <a:defRPr sz="1600">
                <a:solidFill>
                  <a:srgbClr val="1C2522"/>
                </a:solidFill>
                <a:latin typeface="Aptos"/>
              </a:defRPr>
            </a:pPr>
            <a:r>
              <a:t>- Restrict CORS by environment and use production secret/config management.</a:t>
            </a:r>
          </a:p>
          <a:p>
            <a:pPr>
              <a:spcAft>
                <a:spcPts val="1000"/>
              </a:spcAft>
              <a:defRPr sz="1600">
                <a:solidFill>
                  <a:srgbClr val="1C2522"/>
                </a:solidFill>
                <a:latin typeface="Aptos"/>
              </a:defRPr>
            </a:pPr>
            <a:r>
              <a:t>- Disable debug mode outside local development.</a:t>
            </a:r>
          </a:p>
          <a:p>
            <a:pPr>
              <a:spcAft>
                <a:spcPts val="1000"/>
              </a:spcAft>
              <a:defRPr sz="1600">
                <a:solidFill>
                  <a:srgbClr val="1C2522"/>
                </a:solidFill>
                <a:latin typeface="Aptos"/>
              </a:defRPr>
            </a:pPr>
            <a:r>
              <a:t>- Move demo accounts and credentials behind an explicit development-only configuration.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" y="6547104"/>
            <a:ext cx="11064240" cy="164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00" b="0">
                <a:solidFill>
                  <a:srgbClr val="5B6962"/>
                </a:solidFill>
                <a:latin typeface="Aptos"/>
              </a:defRPr>
            </a:pPr>
            <a:r>
              <a:t>Grocery Inventory Management  |  23 Aug 2026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97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9745B"/>
                </a:solidFill>
              </a:defRPr>
            </a:pPr>
            <a:r>
              <a:t>QUALITY AND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06424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2700" b="1">
                <a:solidFill>
                  <a:srgbClr val="1C2522"/>
                </a:solidFill>
                <a:latin typeface="Aptos"/>
              </a:defRPr>
            </a:pPr>
            <a:r>
              <a:t>Build confidence is ahead of behavior confidence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25296"/>
            <a:ext cx="1078992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0">
                <a:solidFill>
                  <a:srgbClr val="5B6962"/>
                </a:solidFill>
                <a:latin typeface="Aptos"/>
              </a:defRPr>
            </a:pPr>
            <a:r>
              <a:t>The frontend compiles, but the project has no automated safety net for its most important workflows.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32461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8D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83080"/>
            <a:ext cx="73152" cy="1828800"/>
          </a:xfrm>
          <a:prstGeom prst="rect">
            <a:avLst/>
          </a:prstGeom>
          <a:solidFill>
            <a:srgbClr val="297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65960"/>
            <a:ext cx="2834639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500" b="1">
                <a:solidFill>
                  <a:srgbClr val="1C2522"/>
                </a:solidFill>
                <a:latin typeface="Aptos"/>
              </a:defRPr>
            </a:pPr>
            <a:r>
              <a:t>BUILD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350008"/>
            <a:ext cx="2834639" cy="11155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400" b="0">
                <a:solidFill>
                  <a:srgbClr val="5B6962"/>
                </a:solidFill>
                <a:latin typeface="Aptos"/>
              </a:defRPr>
            </a:pPr>
            <a:r>
              <a:t>PASS</a:t>
            </a:r>
            <a:br/>
            <a:r>
              <a:t>Vite production build completes successfully.</a:t>
            </a:r>
            <a:br/>
            <a:r>
              <a:t>1815 modules transformed.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783080"/>
            <a:ext cx="32461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8D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60" y="1783080"/>
            <a:ext cx="73152" cy="1828800"/>
          </a:xfrm>
          <a:prstGeom prst="rect">
            <a:avLst/>
          </a:prstGeom>
          <a:solidFill>
            <a:srgbClr val="B14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1965960"/>
            <a:ext cx="2834639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500" b="1">
                <a:solidFill>
                  <a:srgbClr val="1C2522"/>
                </a:solidFill>
                <a:latin typeface="Aptos"/>
              </a:defRPr>
            </a:pPr>
            <a:r>
              <a:t>TESTS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2350008"/>
            <a:ext cx="2834639" cy="11155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400" b="0">
                <a:solidFill>
                  <a:srgbClr val="5B6962"/>
                </a:solidFill>
                <a:latin typeface="Aptos"/>
              </a:defRPr>
            </a:pPr>
            <a:r>
              <a:t>GAP</a:t>
            </a:r>
            <a:br/>
            <a:r>
              <a:t>No test files or test scripts found.</a:t>
            </a:r>
            <a:br/>
            <a:r>
              <a:t>No endpoint smoke suite.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783080"/>
            <a:ext cx="32461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8D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783080"/>
            <a:ext cx="73152" cy="1828800"/>
          </a:xfrm>
          <a:prstGeom prst="rect">
            <a:avLst/>
          </a:prstGeom>
          <a:solidFill>
            <a:srgbClr val="376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58200" y="1965960"/>
            <a:ext cx="2834639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500" b="1">
                <a:solidFill>
                  <a:srgbClr val="1C2522"/>
                </a:solidFill>
                <a:latin typeface="Aptos"/>
              </a:defRPr>
            </a:pPr>
            <a:r>
              <a:t>DIAGNOSTICS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350008"/>
            <a:ext cx="2834639" cy="11155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400" b="0">
                <a:solidFill>
                  <a:srgbClr val="5B6962"/>
                </a:solidFill>
                <a:latin typeface="Aptos"/>
              </a:defRPr>
            </a:pPr>
            <a:r>
              <a:t>OBSERVED</a:t>
            </a:r>
            <a:br/>
            <a:r>
              <a:t>No source diagnostics reported in the reviewed JSX, CSS, or Python surfaces.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160520"/>
            <a:ext cx="31089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500" b="1">
                <a:solidFill>
                  <a:srgbClr val="1C2522"/>
                </a:solidFill>
                <a:latin typeface="Aptos"/>
              </a:defRPr>
            </a:pPr>
            <a:r>
              <a:t>Minimum regression suite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526280"/>
            <a:ext cx="10241280" cy="155448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C2522"/>
                </a:solidFill>
                <a:latin typeface="Aptos"/>
              </a:defRPr>
            </a:pPr>
            <a:r>
              <a:t>- Login success, invalid credentials, and role restrictions.</a:t>
            </a:r>
          </a:p>
          <a:p>
            <a:pPr>
              <a:spcAft>
                <a:spcPts val="1000"/>
              </a:spcAft>
              <a:defRPr sz="1400">
                <a:solidFill>
                  <a:srgbClr val="1C2522"/>
                </a:solidFill>
                <a:latin typeface="Aptos"/>
              </a:defRPr>
            </a:pPr>
            <a:r>
              <a:t>- Purchase stock increase and supplier quantity decrement.</a:t>
            </a:r>
          </a:p>
          <a:p>
            <a:pPr>
              <a:spcAft>
                <a:spcPts val="1000"/>
              </a:spcAft>
              <a:defRPr sz="1400">
                <a:solidFill>
                  <a:srgbClr val="1C2522"/>
                </a:solidFill>
                <a:latin typeface="Aptos"/>
              </a:defRPr>
            </a:pPr>
            <a:r>
              <a:t>- Sale stock decrement and insufficient-stock rejection.</a:t>
            </a:r>
          </a:p>
          <a:p>
            <a:pPr>
              <a:spcAft>
                <a:spcPts val="1000"/>
              </a:spcAft>
              <a:defRPr sz="1400">
                <a:solidFill>
                  <a:srgbClr val="1C2522"/>
                </a:solidFill>
                <a:latin typeface="Aptos"/>
              </a:defRPr>
            </a:pPr>
            <a:r>
              <a:t>- Malformed numeric payloads return controlled 4xx responses.</a:t>
            </a:r>
          </a:p>
          <a:p>
            <a:pPr>
              <a:spcAft>
                <a:spcPts val="1000"/>
              </a:spcAft>
              <a:defRPr sz="1400">
                <a:solidFill>
                  <a:srgbClr val="1C2522"/>
                </a:solidFill>
                <a:latin typeface="Aptos"/>
              </a:defRPr>
            </a:pPr>
            <a:r>
              <a:t>- Summary totals reflect the intended accounting definition.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6547104"/>
            <a:ext cx="11064240" cy="164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00" b="0">
                <a:solidFill>
                  <a:srgbClr val="5B6962"/>
                </a:solidFill>
                <a:latin typeface="Aptos"/>
              </a:defRPr>
            </a:pPr>
            <a:r>
              <a:t>Grocery Inventory Management  |  23 Aug 2026  |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97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9745B"/>
                </a:solidFill>
              </a:defRPr>
            </a:pPr>
            <a:r>
              <a:t>RISKS AND TECHNICAL DEBT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06424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2700" b="1">
                <a:solidFill>
                  <a:srgbClr val="1C2522"/>
                </a:solidFill>
                <a:latin typeface="Aptos"/>
              </a:defRPr>
            </a:pPr>
            <a:r>
              <a:t>Five risks should shape the next iteration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25296"/>
            <a:ext cx="1078992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0">
                <a:solidFill>
                  <a:srgbClr val="5B6962"/>
                </a:solidFill>
                <a:latin typeface="Aptos"/>
              </a:defRPr>
            </a:pPr>
            <a:r>
              <a:t>Prioritized by data integrity and operational impact.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713232" cy="411480"/>
          </a:xfrm>
          <a:prstGeom prst="roundRect">
            <a:avLst/>
          </a:prstGeom>
          <a:solidFill>
            <a:srgbClr val="B14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01368"/>
            <a:ext cx="713232" cy="164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P0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1709928"/>
            <a:ext cx="27432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500" b="1">
                <a:solidFill>
                  <a:srgbClr val="1C2522"/>
                </a:solidFill>
                <a:latin typeface="Aptos"/>
              </a:defRPr>
            </a:pPr>
            <a:r>
              <a:t>Data loss on restart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719072"/>
            <a:ext cx="676656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00" b="0">
                <a:solidFill>
                  <a:srgbClr val="5B6962"/>
                </a:solidFill>
                <a:latin typeface="Aptos"/>
              </a:defRPr>
            </a:pPr>
            <a:r>
              <a:t>No persistence; every operational record is process-local.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32888"/>
            <a:ext cx="713232" cy="411480"/>
          </a:xfrm>
          <a:prstGeom prst="roundRect">
            <a:avLst/>
          </a:prstGeom>
          <a:solidFill>
            <a:srgbClr val="B14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642616"/>
            <a:ext cx="713232" cy="164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P1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2551176"/>
            <a:ext cx="27432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500" b="1">
                <a:solidFill>
                  <a:srgbClr val="1C2522"/>
                </a:solidFill>
                <a:latin typeface="Aptos"/>
              </a:defRPr>
            </a:pPr>
            <a:r>
              <a:t>Non-atomic stock updates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560320"/>
            <a:ext cx="676656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00" b="0">
                <a:solidFill>
                  <a:srgbClr val="5B6962"/>
                </a:solidFill>
                <a:latin typeface="Aptos"/>
              </a:defRPr>
            </a:pPr>
            <a:r>
              <a:t>Purchase and sale mutations have no database transaction or concurrency guard.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374136"/>
            <a:ext cx="713232" cy="411480"/>
          </a:xfrm>
          <a:prstGeom prst="roundRect">
            <a:avLst/>
          </a:prstGeom>
          <a:solidFill>
            <a:srgbClr val="CA8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483864"/>
            <a:ext cx="713232" cy="164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P1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3392424"/>
            <a:ext cx="27432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500" b="1">
                <a:solidFill>
                  <a:srgbClr val="1C2522"/>
                </a:solidFill>
                <a:latin typeface="Aptos"/>
              </a:defRPr>
            </a:pPr>
            <a:r>
              <a:t>Weak request contracts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401568"/>
            <a:ext cx="676656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00" b="0">
                <a:solidFill>
                  <a:srgbClr val="5B6962"/>
                </a:solidFill>
                <a:latin typeface="Aptos"/>
              </a:defRPr>
            </a:pPr>
            <a:r>
              <a:t>Handler-level validation and direct conversions can produce server errors.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215384"/>
            <a:ext cx="713232" cy="411480"/>
          </a:xfrm>
          <a:prstGeom prst="roundRect">
            <a:avLst/>
          </a:prstGeom>
          <a:solidFill>
            <a:srgbClr val="CA8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325112"/>
            <a:ext cx="713232" cy="164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P1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233672"/>
            <a:ext cx="27432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500" b="1">
                <a:solidFill>
                  <a:srgbClr val="1C2522"/>
                </a:solidFill>
                <a:latin typeface="Aptos"/>
              </a:defRPr>
            </a:pPr>
            <a:r>
              <a:t>Security defaults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242816"/>
            <a:ext cx="676656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00" b="0">
                <a:solidFill>
                  <a:srgbClr val="5B6962"/>
                </a:solidFill>
                <a:latin typeface="Aptos"/>
              </a:defRPr>
            </a:pPr>
            <a:r>
              <a:t>Debug mode, open CORS, non-expiring tokens, and localStorage bearer tokens.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056632"/>
            <a:ext cx="713232" cy="411480"/>
          </a:xfrm>
          <a:prstGeom prst="roundRect">
            <a:avLst/>
          </a:prstGeom>
          <a:solidFill>
            <a:srgbClr val="376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166360"/>
            <a:ext cx="713232" cy="164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P2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5074920"/>
            <a:ext cx="27432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500" b="1">
                <a:solidFill>
                  <a:srgbClr val="1C2522"/>
                </a:solidFill>
                <a:latin typeface="Aptos"/>
              </a:defRPr>
            </a:pPr>
            <a:r>
              <a:t>Product consistency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5084064"/>
            <a:ext cx="676656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00" b="0">
                <a:solidFill>
                  <a:srgbClr val="5B6962"/>
                </a:solidFill>
                <a:latin typeface="Aptos"/>
              </a:defRPr>
            </a:pPr>
            <a:r>
              <a:t>Supplier counts/reassignment and category data can drift; README permissions differ from UI.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" y="6547104"/>
            <a:ext cx="11064240" cy="164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00" b="0">
                <a:solidFill>
                  <a:srgbClr val="5B6962"/>
                </a:solidFill>
                <a:latin typeface="Aptos"/>
              </a:defRPr>
            </a:pPr>
            <a:r>
              <a:t>Grocery Inventory Management  |  23 Aug 2026  |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97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9745B"/>
                </a:solidFill>
              </a:defRPr>
            </a:pPr>
            <a:r>
              <a:t>RECOMMENDED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06424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2700" b="1">
                <a:solidFill>
                  <a:srgbClr val="1C2522"/>
                </a:solidFill>
                <a:latin typeface="Aptos"/>
              </a:defRPr>
            </a:pPr>
            <a:r>
              <a:t>Sequence the work around a durable 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25296"/>
            <a:ext cx="1078992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0">
                <a:solidFill>
                  <a:srgbClr val="5B6962"/>
                </a:solidFill>
                <a:latin typeface="Aptos"/>
              </a:defRPr>
            </a:pPr>
            <a:r>
              <a:t>The goal is to preserve the current user experience while making state and contracts trustworthy.</a:t>
            </a:r>
          </a:p>
        </p:txBody>
      </p:sp>
      <p:sp>
        <p:nvSpPr>
          <p:cNvPr id="6" name="Hexagon 5"/>
          <p:cNvSpPr/>
          <p:nvPr/>
        </p:nvSpPr>
        <p:spPr>
          <a:xfrm>
            <a:off x="685800" y="1828800"/>
            <a:ext cx="640080" cy="640080"/>
          </a:xfrm>
          <a:prstGeom prst="hexagon">
            <a:avLst/>
          </a:prstGeom>
          <a:solidFill>
            <a:srgbClr val="297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029968"/>
            <a:ext cx="64008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788920"/>
            <a:ext cx="196596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400" b="1">
                <a:solidFill>
                  <a:srgbClr val="1C2522"/>
                </a:solidFill>
                <a:latin typeface="Aptos"/>
              </a:defRPr>
            </a:pPr>
            <a:r>
              <a:t>Stabilize contracts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310128"/>
            <a:ext cx="1938528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0">
                <a:solidFill>
                  <a:srgbClr val="5B6962"/>
                </a:solidFill>
                <a:latin typeface="Aptos"/>
              </a:defRPr>
            </a:pPr>
            <a:r>
              <a:t>Add schema validation, consistent error envelopes, endpoint tests, and a development seed loader.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450591" y="2029968"/>
            <a:ext cx="420624" cy="182880"/>
          </a:xfrm>
          <a:prstGeom prst="rightArrow">
            <a:avLst/>
          </a:prstGeom>
          <a:solidFill>
            <a:srgbClr val="D8D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xagon 10"/>
          <p:cNvSpPr/>
          <p:nvPr/>
        </p:nvSpPr>
        <p:spPr>
          <a:xfrm>
            <a:off x="2953512" y="1828800"/>
            <a:ext cx="640080" cy="640080"/>
          </a:xfrm>
          <a:prstGeom prst="hexagon">
            <a:avLst/>
          </a:prstGeom>
          <a:solidFill>
            <a:srgbClr val="376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53512" y="2029968"/>
            <a:ext cx="64008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53512" y="2788920"/>
            <a:ext cx="196596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400" b="1">
                <a:solidFill>
                  <a:srgbClr val="1C2522"/>
                </a:solidFill>
                <a:latin typeface="Aptos"/>
              </a:defRPr>
            </a:pPr>
            <a:r>
              <a:t>Extract domain services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53512" y="3310128"/>
            <a:ext cx="1938528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0">
                <a:solidFill>
                  <a:srgbClr val="5B6962"/>
                </a:solidFill>
                <a:latin typeface="Aptos"/>
              </a:defRPr>
            </a:pPr>
            <a:r>
              <a:t>Move stock adjustments, supplier logic, and summary calculations out of route handlers.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718304" y="2029968"/>
            <a:ext cx="420624" cy="182880"/>
          </a:xfrm>
          <a:prstGeom prst="rightArrow">
            <a:avLst/>
          </a:prstGeom>
          <a:solidFill>
            <a:srgbClr val="D8D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Hexagon 15"/>
          <p:cNvSpPr/>
          <p:nvPr/>
        </p:nvSpPr>
        <p:spPr>
          <a:xfrm>
            <a:off x="5221224" y="1828800"/>
            <a:ext cx="640080" cy="640080"/>
          </a:xfrm>
          <a:prstGeom prst="hexagon">
            <a:avLst/>
          </a:prstGeom>
          <a:solidFill>
            <a:srgbClr val="CA8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21224" y="2029968"/>
            <a:ext cx="64008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21224" y="2788920"/>
            <a:ext cx="196596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400" b="1">
                <a:solidFill>
                  <a:srgbClr val="1C2522"/>
                </a:solidFill>
                <a:latin typeface="Aptos"/>
              </a:defRPr>
            </a:pPr>
            <a:r>
              <a:t>Add persistence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21224" y="3310128"/>
            <a:ext cx="1938528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0">
                <a:solidFill>
                  <a:srgbClr val="5B6962"/>
                </a:solidFill>
                <a:latin typeface="Aptos"/>
              </a:defRPr>
            </a:pPr>
            <a:r>
              <a:t>Introduce MySQL schema, migrations, repository interfaces, and atomic inventory transactions.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986016" y="2029968"/>
            <a:ext cx="420624" cy="182880"/>
          </a:xfrm>
          <a:prstGeom prst="rightArrow">
            <a:avLst/>
          </a:prstGeom>
          <a:solidFill>
            <a:srgbClr val="D8D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Hexagon 20"/>
          <p:cNvSpPr/>
          <p:nvPr/>
        </p:nvSpPr>
        <p:spPr>
          <a:xfrm>
            <a:off x="7488936" y="1828800"/>
            <a:ext cx="640080" cy="640080"/>
          </a:xfrm>
          <a:prstGeom prst="hexagon">
            <a:avLst/>
          </a:prstGeom>
          <a:solidFill>
            <a:srgbClr val="B14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88936" y="2029968"/>
            <a:ext cx="64008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88936" y="2788920"/>
            <a:ext cx="196596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400" b="1">
                <a:solidFill>
                  <a:srgbClr val="1C2522"/>
                </a:solidFill>
                <a:latin typeface="Aptos"/>
              </a:defRPr>
            </a:pPr>
            <a:r>
              <a:t>Harden deployment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88936" y="3310128"/>
            <a:ext cx="1938528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0">
                <a:solidFill>
                  <a:srgbClr val="5B6962"/>
                </a:solidFill>
                <a:latin typeface="Aptos"/>
              </a:defRPr>
            </a:pPr>
            <a:r>
              <a:t>Environment-based API URL, restricted CORS, token expiry, secrets, and debug off.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253728" y="2029968"/>
            <a:ext cx="420624" cy="182880"/>
          </a:xfrm>
          <a:prstGeom prst="rightArrow">
            <a:avLst/>
          </a:prstGeom>
          <a:solidFill>
            <a:srgbClr val="D8D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Hexagon 25"/>
          <p:cNvSpPr/>
          <p:nvPr/>
        </p:nvSpPr>
        <p:spPr>
          <a:xfrm>
            <a:off x="9756648" y="1828800"/>
            <a:ext cx="640080" cy="640080"/>
          </a:xfrm>
          <a:prstGeom prst="hexagon">
            <a:avLst/>
          </a:prstGeom>
          <a:solidFill>
            <a:srgbClr val="297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56648" y="2029968"/>
            <a:ext cx="64008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56648" y="2788920"/>
            <a:ext cx="196596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400" b="1">
                <a:solidFill>
                  <a:srgbClr val="1C2522"/>
                </a:solidFill>
                <a:latin typeface="Aptos"/>
              </a:defRPr>
            </a:pPr>
            <a:r>
              <a:t>Improve product truth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56648" y="3310128"/>
            <a:ext cx="1938528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0">
                <a:solidFill>
                  <a:srgbClr val="5B6962"/>
                </a:solidFill>
                <a:latin typeface="Aptos"/>
              </a:defRPr>
            </a:pPr>
            <a:r>
              <a:t>COGS-based profit, audit history, pagination/filtering, and UI/API permission alignment.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623560"/>
            <a:ext cx="107899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800" b="1">
                <a:solidFill>
                  <a:srgbClr val="29745B"/>
                </a:solidFill>
                <a:latin typeface="Aptos"/>
              </a:defRPr>
            </a:pPr>
            <a:r>
              <a:t>Decision point: invest in persistence and contracts before adding more screens or reports.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352" y="6547104"/>
            <a:ext cx="11064240" cy="164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00" b="0">
                <a:solidFill>
                  <a:srgbClr val="5B6962"/>
                </a:solidFill>
                <a:latin typeface="Aptos"/>
              </a:defRPr>
            </a:pPr>
            <a:r>
              <a:t>Grocery Inventory Management  |  23 Aug 2026  |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97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9745B"/>
                </a:solidFill>
              </a:defRPr>
            </a:pPr>
            <a: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06424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2700" b="1">
                <a:solidFill>
                  <a:srgbClr val="1C2522"/>
                </a:solidFill>
                <a:latin typeface="Aptos"/>
              </a:defRPr>
            </a:pPr>
            <a:r>
              <a:t>Source map and review boundaries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25296"/>
            <a:ext cx="1078992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0">
                <a:solidFill>
                  <a:srgbClr val="5B6962"/>
                </a:solidFill>
                <a:latin typeface="Aptos"/>
              </a:defRPr>
            </a:pPr>
            <a:r>
              <a:t>This deck is grounded in the repository snapshot available on 23 August 2026.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3736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8D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737360"/>
            <a:ext cx="73152" cy="1828800"/>
          </a:xfrm>
          <a:prstGeom prst="rect">
            <a:avLst/>
          </a:prstGeom>
          <a:solidFill>
            <a:srgbClr val="297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489204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500" b="1">
                <a:solidFill>
                  <a:srgbClr val="1C2522"/>
                </a:solidFill>
                <a:latin typeface="Aptos"/>
              </a:defRPr>
            </a:pPr>
            <a:r>
              <a:t>PRIMARY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04288"/>
            <a:ext cx="4892040" cy="11155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400" b="0">
                <a:solidFill>
                  <a:srgbClr val="5B6962"/>
                </a:solidFill>
                <a:latin typeface="Aptos"/>
              </a:defRPr>
            </a:pPr>
            <a:r>
              <a:t>backend/app.py</a:t>
            </a:r>
            <a:br/>
            <a:r>
              <a:t>frontend/src/main.jsx</a:t>
            </a:r>
            <a:br/>
            <a:r>
              <a:t>frontend/src/styles.css</a:t>
            </a:r>
            <a:br/>
            <a:r>
              <a:t>frontend/package.json</a:t>
            </a:r>
            <a:br/>
            <a:r>
              <a:t>backend/requirements.txt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3736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8D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737360"/>
            <a:ext cx="73152" cy="1828800"/>
          </a:xfrm>
          <a:prstGeom prst="rect">
            <a:avLst/>
          </a:prstGeom>
          <a:solidFill>
            <a:srgbClr val="376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920240"/>
            <a:ext cx="489204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500" b="1">
                <a:solidFill>
                  <a:srgbClr val="1C2522"/>
                </a:solidFill>
                <a:latin typeface="Aptos"/>
              </a:defRPr>
            </a:pPr>
            <a:r>
              <a:t>DATA / OPERATIONS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304288"/>
            <a:ext cx="4892040" cy="11155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400" b="0">
                <a:solidFill>
                  <a:srgbClr val="5B6962"/>
                </a:solidFill>
                <a:latin typeface="Aptos"/>
              </a:defRPr>
            </a:pPr>
            <a:r>
              <a:t>database/seed_data.json</a:t>
            </a:r>
            <a:br/>
            <a:r>
              <a:t>README.md</a:t>
            </a:r>
            <a:br/>
            <a:r>
              <a:t>Vite production build: PASS</a:t>
            </a:r>
            <a:br/>
            <a:r>
              <a:t>No automated tests found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251960"/>
            <a:ext cx="18288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500" b="1">
                <a:solidFill>
                  <a:srgbClr val="1C2522"/>
                </a:solidFill>
                <a:latin typeface="Aptos"/>
              </a:defRPr>
            </a:pPr>
            <a:r>
              <a:t>Review boundary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617720"/>
            <a:ext cx="10515600" cy="685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700" b="0">
                <a:solidFill>
                  <a:srgbClr val="5B6962"/>
                </a:solidFill>
                <a:latin typeface="Aptos"/>
              </a:defRPr>
            </a:pPr>
            <a:r>
              <a:t>This is a static code and configuration assessment. It does not claim production readiness, penetration-test coverage, database performance, or browser-level UX verification.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715000"/>
            <a:ext cx="105156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2200" b="1">
                <a:solidFill>
                  <a:srgbClr val="29745B"/>
                </a:solidFill>
                <a:latin typeface="Aptos"/>
              </a:defRPr>
            </a:pPr>
            <a:r>
              <a:t>End of report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6547104"/>
            <a:ext cx="11064240" cy="164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00" b="0">
                <a:solidFill>
                  <a:srgbClr val="5B6962"/>
                </a:solidFill>
                <a:latin typeface="Aptos"/>
              </a:defRPr>
            </a:pPr>
            <a:r>
              <a:t>Grocery Inventory Management  |  23 Aug 2026  | 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