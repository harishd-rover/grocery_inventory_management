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2B25"/>
        </a:solidFill>
        <a:effectLst/>
      </p:bgPr>
    </p:bg>
    <p:spTree>
      <p:nvGrpSpPr>
        <p:cNvPr id="1" name=""/>
        <p:cNvGrpSpPr/>
        <p:nvPr/>
      </p:nvGrpSpPr>
      <p:grpSpPr/>
      <p:sp>
        <p:nvSpPr>
          <p:cNvPr id="2" name="TextBox 1"/>
          <p:cNvSpPr txBox="1"/>
          <p:nvPr/>
        </p:nvSpPr>
        <p:spPr>
          <a:xfrm>
            <a:off x="685800" y="960120"/>
            <a:ext cx="7955279" cy="320040"/>
          </a:xfrm>
          <a:prstGeom prst="rect">
            <a:avLst/>
          </a:prstGeom>
          <a:noFill/>
        </p:spPr>
        <p:txBody>
          <a:bodyPr wrap="square" lIns="54864" rIns="54864" tIns="54864" bIns="54864" anchor="t">
            <a:spAutoFit/>
          </a:bodyPr>
          <a:lstStyle/>
          <a:p>
            <a:pPr algn="l"/>
            <a:r>
              <a:rPr sz="1300" b="1">
                <a:solidFill>
                  <a:srgbClr val="8FD2AA"/>
                </a:solidFill>
                <a:latin typeface="Aptos"/>
              </a:rPr>
              <a:t>GROCERY INVENTORY MANAGEMENT</a:t>
            </a:r>
          </a:p>
        </p:txBody>
      </p:sp>
      <p:sp>
        <p:nvSpPr>
          <p:cNvPr id="3" name="TextBox 2"/>
          <p:cNvSpPr txBox="1"/>
          <p:nvPr/>
        </p:nvSpPr>
        <p:spPr>
          <a:xfrm>
            <a:off x="658368" y="1463040"/>
            <a:ext cx="8961120" cy="1508760"/>
          </a:xfrm>
          <a:prstGeom prst="rect">
            <a:avLst/>
          </a:prstGeom>
          <a:noFill/>
        </p:spPr>
        <p:txBody>
          <a:bodyPr wrap="square" lIns="54864" rIns="54864" tIns="54864" bIns="54864" anchor="t">
            <a:spAutoFit/>
          </a:bodyPr>
          <a:lstStyle/>
          <a:p>
            <a:pPr algn="l"/>
            <a:r>
              <a:rPr sz="3800" b="1">
                <a:solidFill>
                  <a:srgbClr val="FFFFFF"/>
                </a:solidFill>
                <a:latin typeface="Aptos"/>
              </a:rPr>
              <a:t>Frontend and full-stack
project explained</a:t>
            </a:r>
          </a:p>
        </p:txBody>
      </p:sp>
      <p:sp>
        <p:nvSpPr>
          <p:cNvPr id="4" name="TextBox 3"/>
          <p:cNvSpPr txBox="1"/>
          <p:nvPr/>
        </p:nvSpPr>
        <p:spPr>
          <a:xfrm>
            <a:off x="713232" y="3337560"/>
            <a:ext cx="7680960" cy="640080"/>
          </a:xfrm>
          <a:prstGeom prst="rect">
            <a:avLst/>
          </a:prstGeom>
          <a:noFill/>
        </p:spPr>
        <p:txBody>
          <a:bodyPr wrap="square" lIns="54864" rIns="54864" tIns="54864" bIns="54864" anchor="t">
            <a:spAutoFit/>
          </a:bodyPr>
          <a:lstStyle/>
          <a:p>
            <a:pPr algn="l"/>
            <a:r>
              <a:rPr sz="1700" b="0">
                <a:solidFill>
                  <a:srgbClr val="D3E2D8"/>
                </a:solidFill>
                <a:latin typeface="Aptos"/>
              </a:rPr>
              <a:t>A code-grounded walkthrough of the Vite frontend, Flask API,
authentication, workflows, and current architecture.</a:t>
            </a:r>
          </a:p>
        </p:txBody>
      </p:sp>
      <p:sp>
        <p:nvSpPr>
          <p:cNvPr id="5" name="Rounded Rectangle 4"/>
          <p:cNvSpPr/>
          <p:nvPr/>
        </p:nvSpPr>
        <p:spPr>
          <a:xfrm>
            <a:off x="8823960" y="1097280"/>
            <a:ext cx="2057400" cy="347472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72600" y="1508760"/>
            <a:ext cx="960120" cy="1097280"/>
          </a:xfrm>
          <a:prstGeom prst="rect">
            <a:avLst/>
          </a:prstGeom>
          <a:noFill/>
        </p:spPr>
        <p:txBody>
          <a:bodyPr wrap="square" lIns="54864" rIns="54864" tIns="54864" bIns="54864" anchor="ctr">
            <a:spAutoFit/>
          </a:bodyPr>
          <a:lstStyle/>
          <a:p>
            <a:pPr algn="ctr"/>
            <a:r>
              <a:rPr sz="7800" b="1">
                <a:solidFill>
                  <a:srgbClr val="FFFFFF"/>
                </a:solidFill>
                <a:latin typeface="Aptos"/>
              </a:rPr>
              <a:t>g</a:t>
            </a:r>
          </a:p>
        </p:txBody>
      </p:sp>
      <p:sp>
        <p:nvSpPr>
          <p:cNvPr id="7" name="TextBox 6"/>
          <p:cNvSpPr txBox="1"/>
          <p:nvPr/>
        </p:nvSpPr>
        <p:spPr>
          <a:xfrm>
            <a:off x="9098280" y="2926080"/>
            <a:ext cx="1508760" cy="365760"/>
          </a:xfrm>
          <a:prstGeom prst="rect">
            <a:avLst/>
          </a:prstGeom>
          <a:noFill/>
        </p:spPr>
        <p:txBody>
          <a:bodyPr wrap="square" lIns="54864" rIns="54864" tIns="54864" bIns="54864" anchor="t">
            <a:spAutoFit/>
          </a:bodyPr>
          <a:lstStyle/>
          <a:p>
            <a:pPr algn="ctr"/>
            <a:r>
              <a:rPr sz="1800" b="1">
                <a:solidFill>
                  <a:srgbClr val="FFFFFF"/>
                </a:solidFill>
                <a:latin typeface="Aptos"/>
              </a:rPr>
              <a:t>grocerly.</a:t>
            </a:r>
          </a:p>
        </p:txBody>
      </p:sp>
      <p:sp>
        <p:nvSpPr>
          <p:cNvPr id="8" name="TextBox 7"/>
          <p:cNvSpPr txBox="1"/>
          <p:nvPr/>
        </p:nvSpPr>
        <p:spPr>
          <a:xfrm>
            <a:off x="713232" y="5989320"/>
            <a:ext cx="2743200" cy="228600"/>
          </a:xfrm>
          <a:prstGeom prst="rect">
            <a:avLst/>
          </a:prstGeom>
          <a:noFill/>
        </p:spPr>
        <p:txBody>
          <a:bodyPr wrap="square" lIns="54864" rIns="54864" tIns="54864" bIns="54864" anchor="t">
            <a:spAutoFit/>
          </a:bodyPr>
          <a:lstStyle/>
          <a:p>
            <a:pPr algn="l"/>
            <a:r>
              <a:rPr sz="1000" b="1">
                <a:solidFill>
                  <a:srgbClr val="8FD2AA"/>
                </a:solidFill>
                <a:latin typeface="Aptos"/>
              </a:rPr>
              <a:t>PROJECT GUIDE</a:t>
            </a:r>
          </a:p>
        </p:txBody>
      </p:sp>
      <p:sp>
        <p:nvSpPr>
          <p:cNvPr id="9" name="TextBox 8"/>
          <p:cNvSpPr txBox="1"/>
          <p:nvPr/>
        </p:nvSpPr>
        <p:spPr>
          <a:xfrm>
            <a:off x="10789920" y="5989320"/>
            <a:ext cx="685800" cy="228600"/>
          </a:xfrm>
          <a:prstGeom prst="rect">
            <a:avLst/>
          </a:prstGeom>
          <a:noFill/>
        </p:spPr>
        <p:txBody>
          <a:bodyPr wrap="square" lIns="54864" rIns="54864" tIns="54864" bIns="54864" anchor="t">
            <a:spAutoFit/>
          </a:bodyPr>
          <a:lstStyle/>
          <a:p>
            <a:pPr algn="r"/>
            <a:r>
              <a:rPr sz="1000" b="1">
                <a:solidFill>
                  <a:srgbClr val="D3E2D8"/>
                </a:solidFill>
                <a:latin typeface="Aptos"/>
              </a:rPr>
              <a:t>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ORIENTATION</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What this project contains</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02</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594360" y="1691640"/>
            <a:ext cx="5212080" cy="3977639"/>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819656"/>
            <a:ext cx="4882896" cy="3721607"/>
          </a:xfrm>
          <a:prstGeom prst="rect">
            <a:avLst/>
          </a:prstGeom>
          <a:noFill/>
        </p:spPr>
        <p:txBody>
          <a:bodyPr wrap="square" lIns="0" rIns="0" tIns="0" bIns="0">
            <a:spAutoFit/>
          </a:bodyPr>
          <a:lstStyle/>
          <a:p>
            <a:pPr>
              <a:spcAft>
                <a:spcPts val="800"/>
              </a:spcAft>
              <a:defRPr sz="1700">
                <a:solidFill>
                  <a:srgbClr val="23322D"/>
                </a:solidFill>
                <a:latin typeface="Aptos"/>
              </a:defRPr>
            </a:pPr>
            <a:r>
              <a:t>Browser application: Vite serves a single HTML entry point.</a:t>
            </a:r>
          </a:p>
          <a:p>
            <a:pPr>
              <a:spcAft>
                <a:spcPts val="800"/>
              </a:spcAft>
              <a:defRPr sz="1700">
                <a:solidFill>
                  <a:srgbClr val="23322D"/>
                </a:solidFill>
                <a:latin typeface="Aptos"/>
              </a:defRPr>
            </a:pPr>
            <a:r>
              <a:t>UI implementation: vanilla JavaScript builds HTML strings and binds events.</a:t>
            </a:r>
          </a:p>
          <a:p>
            <a:pPr>
              <a:spcAft>
                <a:spcPts val="800"/>
              </a:spcAft>
              <a:defRPr sz="1700">
                <a:solidFill>
                  <a:srgbClr val="23322D"/>
                </a:solidFill>
                <a:latin typeface="Aptos"/>
              </a:defRPr>
            </a:pPr>
            <a:r>
              <a:t>Backend: Flask exposes JSON REST endpoints under /api.</a:t>
            </a:r>
          </a:p>
          <a:p>
            <a:pPr>
              <a:spcAft>
                <a:spcPts val="800"/>
              </a:spcAft>
              <a:defRPr sz="1700">
                <a:solidFill>
                  <a:srgbClr val="23322D"/>
                </a:solidFill>
                <a:latin typeface="Aptos"/>
              </a:defRPr>
            </a:pPr>
            <a:r>
              <a:t>Storage: Python in-memory lists and dictionaries for development.</a:t>
            </a:r>
          </a:p>
          <a:p>
            <a:pPr>
              <a:spcAft>
                <a:spcPts val="800"/>
              </a:spcAft>
              <a:defRPr sz="1700">
                <a:solidFill>
                  <a:srgbClr val="23322D"/>
                </a:solidFill>
                <a:latin typeface="Aptos"/>
              </a:defRPr>
            </a:pPr>
            <a:r>
              <a:t>Users: bearer-token login with admin and staff permissions.</a:t>
            </a:r>
          </a:p>
        </p:txBody>
      </p:sp>
      <p:sp>
        <p:nvSpPr>
          <p:cNvPr id="9" name="Rounded Rectangle 8"/>
          <p:cNvSpPr/>
          <p:nvPr/>
        </p:nvSpPr>
        <p:spPr>
          <a:xfrm>
            <a:off x="6217920" y="1783080"/>
            <a:ext cx="4892040" cy="3611880"/>
          </a:xfrm>
          <a:prstGeom prst="roundRect">
            <a:avLst/>
          </a:prstGeom>
          <a:solidFill>
            <a:srgbClr val="E5F0F8"/>
          </a:solidFill>
          <a:ln w="10160">
            <a:solidFill>
              <a:srgbClr val="E5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57400"/>
            <a:ext cx="4114800" cy="320040"/>
          </a:xfrm>
          <a:prstGeom prst="rect">
            <a:avLst/>
          </a:prstGeom>
          <a:noFill/>
        </p:spPr>
        <p:txBody>
          <a:bodyPr wrap="square" lIns="54864" rIns="54864" tIns="54864" bIns="54864" anchor="t">
            <a:spAutoFit/>
          </a:bodyPr>
          <a:lstStyle/>
          <a:p>
            <a:pPr algn="l"/>
            <a:r>
              <a:rPr sz="2000" b="1">
                <a:solidFill>
                  <a:srgbClr val="43779D"/>
                </a:solidFill>
                <a:latin typeface="Aptos"/>
              </a:rPr>
              <a:t>The central idea</a:t>
            </a:r>
          </a:p>
        </p:txBody>
      </p:sp>
      <p:sp>
        <p:nvSpPr>
          <p:cNvPr id="11" name="TextBox 10"/>
          <p:cNvSpPr txBox="1"/>
          <p:nvPr/>
        </p:nvSpPr>
        <p:spPr>
          <a:xfrm>
            <a:off x="6537960" y="2560320"/>
            <a:ext cx="4069080" cy="1280160"/>
          </a:xfrm>
          <a:prstGeom prst="rect">
            <a:avLst/>
          </a:prstGeom>
          <a:noFill/>
        </p:spPr>
        <p:txBody>
          <a:bodyPr wrap="square" lIns="54864" rIns="54864" tIns="54864" bIns="54864" anchor="t">
            <a:spAutoFit/>
          </a:bodyPr>
          <a:lstStyle/>
          <a:p>
            <a:pPr algn="l"/>
            <a:r>
              <a:rPr sz="1700" b="0">
                <a:solidFill>
                  <a:srgbClr val="23322D"/>
                </a:solidFill>
                <a:latin typeface="Aptos"/>
              </a:rPr>
              <a:t>The frontend is a small single-page application. It keeps the current screen and loaded records in one state object, then re-renders the visible page whenever state changes.</a:t>
            </a:r>
          </a:p>
        </p:txBody>
      </p:sp>
      <p:sp>
        <p:nvSpPr>
          <p:cNvPr id="12" name="TextBox 11"/>
          <p:cNvSpPr txBox="1"/>
          <p:nvPr/>
        </p:nvSpPr>
        <p:spPr>
          <a:xfrm>
            <a:off x="6537960" y="4297680"/>
            <a:ext cx="4160520" cy="594360"/>
          </a:xfrm>
          <a:prstGeom prst="rect">
            <a:avLst/>
          </a:prstGeom>
          <a:noFill/>
        </p:spPr>
        <p:txBody>
          <a:bodyPr wrap="square" lIns="54864" rIns="54864" tIns="54864" bIns="54864" anchor="ctr">
            <a:spAutoFit/>
          </a:bodyPr>
          <a:lstStyle/>
          <a:p>
            <a:pPr algn="ctr"/>
            <a:r>
              <a:rPr sz="1500" b="1">
                <a:solidFill>
                  <a:srgbClr val="1C2B25"/>
                </a:solidFill>
                <a:latin typeface="Consolas"/>
              </a:rPr>
              <a:t>Browser  &lt;-&gt;  Flask API  &lt;-&gt;  In-memory records</a:t>
            </a:r>
          </a:p>
        </p:txBody>
      </p:sp>
      <p:sp>
        <p:nvSpPr>
          <p:cNvPr id="13" name="Rounded Rectangle 12"/>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The system is intentionally simple enough to understand, but already separates UI and API responsibilities.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PROJECT MAP</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How the folders fit together</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03</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85800" y="1737360"/>
            <a:ext cx="3246120" cy="1417320"/>
          </a:xfrm>
          <a:prstGeom prst="roundRect">
            <a:avLst/>
          </a:prstGeom>
          <a:solidFill>
            <a:srgbClr val="E5F0F8"/>
          </a:solidFill>
          <a:ln w="10160">
            <a:solidFill>
              <a:srgbClr val="E5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1938528"/>
            <a:ext cx="2834640" cy="274320"/>
          </a:xfrm>
          <a:prstGeom prst="rect">
            <a:avLst/>
          </a:prstGeom>
          <a:noFill/>
        </p:spPr>
        <p:txBody>
          <a:bodyPr wrap="square" lIns="54864" rIns="54864" tIns="54864" bIns="54864" anchor="t">
            <a:spAutoFit/>
          </a:bodyPr>
          <a:lstStyle/>
          <a:p>
            <a:pPr algn="l"/>
            <a:r>
              <a:rPr sz="1400" b="1">
                <a:solidFill>
                  <a:srgbClr val="43779D"/>
                </a:solidFill>
                <a:latin typeface="Consolas"/>
              </a:rPr>
              <a:t>frontend/index.html</a:t>
            </a:r>
          </a:p>
        </p:txBody>
      </p:sp>
      <p:sp>
        <p:nvSpPr>
          <p:cNvPr id="9" name="TextBox 8"/>
          <p:cNvSpPr txBox="1"/>
          <p:nvPr/>
        </p:nvSpPr>
        <p:spPr>
          <a:xfrm>
            <a:off x="868680" y="2359152"/>
            <a:ext cx="2788920" cy="548640"/>
          </a:xfrm>
          <a:prstGeom prst="rect">
            <a:avLst/>
          </a:prstGeom>
          <a:noFill/>
        </p:spPr>
        <p:txBody>
          <a:bodyPr wrap="square" lIns="54864" rIns="54864" tIns="54864" bIns="54864" anchor="t">
            <a:spAutoFit/>
          </a:bodyPr>
          <a:lstStyle/>
          <a:p>
            <a:pPr algn="l"/>
            <a:r>
              <a:rPr sz="1500" b="0">
                <a:solidFill>
                  <a:srgbClr val="23322D"/>
                </a:solidFill>
                <a:latin typeface="Aptos"/>
              </a:rPr>
              <a:t>HTML shell
#root mount point</a:t>
            </a:r>
          </a:p>
        </p:txBody>
      </p:sp>
      <p:sp>
        <p:nvSpPr>
          <p:cNvPr id="10" name="Rounded Rectangle 9"/>
          <p:cNvSpPr/>
          <p:nvPr/>
        </p:nvSpPr>
        <p:spPr>
          <a:xfrm>
            <a:off x="4480560" y="1737360"/>
            <a:ext cx="3246120" cy="1417320"/>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1938528"/>
            <a:ext cx="2834640" cy="274320"/>
          </a:xfrm>
          <a:prstGeom prst="rect">
            <a:avLst/>
          </a:prstGeom>
          <a:noFill/>
        </p:spPr>
        <p:txBody>
          <a:bodyPr wrap="square" lIns="54864" rIns="54864" tIns="54864" bIns="54864" anchor="t">
            <a:spAutoFit/>
          </a:bodyPr>
          <a:lstStyle/>
          <a:p>
            <a:pPr algn="l"/>
            <a:r>
              <a:rPr sz="1400" b="1">
                <a:solidFill>
                  <a:srgbClr val="267354"/>
                </a:solidFill>
                <a:latin typeface="Consolas"/>
              </a:rPr>
              <a:t>frontend/src/main.js</a:t>
            </a:r>
          </a:p>
        </p:txBody>
      </p:sp>
      <p:sp>
        <p:nvSpPr>
          <p:cNvPr id="12" name="TextBox 11"/>
          <p:cNvSpPr txBox="1"/>
          <p:nvPr/>
        </p:nvSpPr>
        <p:spPr>
          <a:xfrm>
            <a:off x="4663440" y="2359152"/>
            <a:ext cx="2788920" cy="548640"/>
          </a:xfrm>
          <a:prstGeom prst="rect">
            <a:avLst/>
          </a:prstGeom>
          <a:noFill/>
        </p:spPr>
        <p:txBody>
          <a:bodyPr wrap="square" lIns="54864" rIns="54864" tIns="54864" bIns="54864" anchor="t">
            <a:spAutoFit/>
          </a:bodyPr>
          <a:lstStyle/>
          <a:p>
            <a:pPr algn="l"/>
            <a:r>
              <a:rPr sz="1500" b="0">
                <a:solidFill>
                  <a:srgbClr val="23322D"/>
                </a:solidFill>
                <a:latin typeface="Aptos"/>
              </a:rPr>
              <a:t>Application logic
state, views, API, events</a:t>
            </a:r>
          </a:p>
        </p:txBody>
      </p:sp>
      <p:sp>
        <p:nvSpPr>
          <p:cNvPr id="13" name="Rounded Rectangle 12"/>
          <p:cNvSpPr/>
          <p:nvPr/>
        </p:nvSpPr>
        <p:spPr>
          <a:xfrm>
            <a:off x="8275320" y="1737360"/>
            <a:ext cx="3246120" cy="1417320"/>
          </a:xfrm>
          <a:prstGeom prst="roundRect">
            <a:avLst/>
          </a:prstGeom>
          <a:solidFill>
            <a:srgbClr val="FFF5DA"/>
          </a:solidFill>
          <a:ln w="10160">
            <a:solidFill>
              <a:srgbClr val="FFF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458200" y="1938528"/>
            <a:ext cx="2834640" cy="274320"/>
          </a:xfrm>
          <a:prstGeom prst="rect">
            <a:avLst/>
          </a:prstGeom>
          <a:noFill/>
        </p:spPr>
        <p:txBody>
          <a:bodyPr wrap="square" lIns="54864" rIns="54864" tIns="54864" bIns="54864" anchor="t">
            <a:spAutoFit/>
          </a:bodyPr>
          <a:lstStyle/>
          <a:p>
            <a:pPr algn="l"/>
            <a:r>
              <a:rPr sz="1400" b="1">
                <a:solidFill>
                  <a:srgbClr val="D29B27"/>
                </a:solidFill>
                <a:latin typeface="Consolas"/>
              </a:rPr>
              <a:t>frontend/src/styles.css</a:t>
            </a:r>
          </a:p>
        </p:txBody>
      </p:sp>
      <p:sp>
        <p:nvSpPr>
          <p:cNvPr id="15" name="TextBox 14"/>
          <p:cNvSpPr txBox="1"/>
          <p:nvPr/>
        </p:nvSpPr>
        <p:spPr>
          <a:xfrm>
            <a:off x="8458200" y="2359152"/>
            <a:ext cx="2788920" cy="548640"/>
          </a:xfrm>
          <a:prstGeom prst="rect">
            <a:avLst/>
          </a:prstGeom>
          <a:noFill/>
        </p:spPr>
        <p:txBody>
          <a:bodyPr wrap="square" lIns="54864" rIns="54864" tIns="54864" bIns="54864" anchor="t">
            <a:spAutoFit/>
          </a:bodyPr>
          <a:lstStyle/>
          <a:p>
            <a:pPr algn="l"/>
            <a:r>
              <a:rPr sz="1500" b="0">
                <a:solidFill>
                  <a:srgbClr val="23322D"/>
                </a:solidFill>
                <a:latin typeface="Aptos"/>
              </a:rPr>
              <a:t>Visual system
layout, tables, mobile CSS</a:t>
            </a:r>
          </a:p>
        </p:txBody>
      </p:sp>
      <p:sp>
        <p:nvSpPr>
          <p:cNvPr id="16" name="Rounded Rectangle 15"/>
          <p:cNvSpPr/>
          <p:nvPr/>
        </p:nvSpPr>
        <p:spPr>
          <a:xfrm>
            <a:off x="685800" y="3749039"/>
            <a:ext cx="3246120" cy="1417320"/>
          </a:xfrm>
          <a:prstGeom prst="roundRect">
            <a:avLst/>
          </a:prstGeom>
          <a:solidFill>
            <a:srgbClr val="FCE9E5"/>
          </a:solidFill>
          <a:ln w="10160">
            <a:solidFill>
              <a:srgbClr val="FC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950207"/>
            <a:ext cx="2834640" cy="274320"/>
          </a:xfrm>
          <a:prstGeom prst="rect">
            <a:avLst/>
          </a:prstGeom>
          <a:noFill/>
        </p:spPr>
        <p:txBody>
          <a:bodyPr wrap="square" lIns="54864" rIns="54864" tIns="54864" bIns="54864" anchor="t">
            <a:spAutoFit/>
          </a:bodyPr>
          <a:lstStyle/>
          <a:p>
            <a:pPr algn="l"/>
            <a:r>
              <a:rPr sz="1400" b="1">
                <a:solidFill>
                  <a:srgbClr val="C6584D"/>
                </a:solidFill>
                <a:latin typeface="Consolas"/>
              </a:rPr>
              <a:t>backend/app.py</a:t>
            </a:r>
          </a:p>
        </p:txBody>
      </p:sp>
      <p:sp>
        <p:nvSpPr>
          <p:cNvPr id="18" name="TextBox 17"/>
          <p:cNvSpPr txBox="1"/>
          <p:nvPr/>
        </p:nvSpPr>
        <p:spPr>
          <a:xfrm>
            <a:off x="868680" y="4370831"/>
            <a:ext cx="2788920" cy="548640"/>
          </a:xfrm>
          <a:prstGeom prst="rect">
            <a:avLst/>
          </a:prstGeom>
          <a:noFill/>
        </p:spPr>
        <p:txBody>
          <a:bodyPr wrap="square" lIns="54864" rIns="54864" tIns="54864" bIns="54864" anchor="t">
            <a:spAutoFit/>
          </a:bodyPr>
          <a:lstStyle/>
          <a:p>
            <a:pPr algn="l"/>
            <a:r>
              <a:rPr sz="1500" b="0">
                <a:solidFill>
                  <a:srgbClr val="23322D"/>
                </a:solidFill>
                <a:latin typeface="Aptos"/>
              </a:rPr>
              <a:t>REST API
auth, roles, business rules</a:t>
            </a:r>
          </a:p>
        </p:txBody>
      </p:sp>
      <p:sp>
        <p:nvSpPr>
          <p:cNvPr id="19" name="Rounded Rectangle 18"/>
          <p:cNvSpPr/>
          <p:nvPr/>
        </p:nvSpPr>
        <p:spPr>
          <a:xfrm>
            <a:off x="4480560" y="3749039"/>
            <a:ext cx="3246120" cy="1417320"/>
          </a:xfrm>
          <a:prstGeom prst="roundRect">
            <a:avLst/>
          </a:prstGeom>
          <a:solidFill>
            <a:srgbClr val="EFEBF9"/>
          </a:solidFill>
          <a:ln w="10160">
            <a:solidFill>
              <a:srgbClr val="EFEBF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663440" y="3950207"/>
            <a:ext cx="2834640" cy="274320"/>
          </a:xfrm>
          <a:prstGeom prst="rect">
            <a:avLst/>
          </a:prstGeom>
          <a:noFill/>
        </p:spPr>
        <p:txBody>
          <a:bodyPr wrap="square" lIns="54864" rIns="54864" tIns="54864" bIns="54864" anchor="t">
            <a:spAutoFit/>
          </a:bodyPr>
          <a:lstStyle/>
          <a:p>
            <a:pPr algn="l"/>
            <a:r>
              <a:rPr sz="1400" b="1">
                <a:solidFill>
                  <a:srgbClr val="6F5291"/>
                </a:solidFill>
                <a:latin typeface="Consolas"/>
              </a:rPr>
              <a:t>database/seed_data.json</a:t>
            </a:r>
          </a:p>
        </p:txBody>
      </p:sp>
      <p:sp>
        <p:nvSpPr>
          <p:cNvPr id="21" name="TextBox 20"/>
          <p:cNvSpPr txBox="1"/>
          <p:nvPr/>
        </p:nvSpPr>
        <p:spPr>
          <a:xfrm>
            <a:off x="4663440" y="4370831"/>
            <a:ext cx="2788920" cy="548640"/>
          </a:xfrm>
          <a:prstGeom prst="rect">
            <a:avLst/>
          </a:prstGeom>
          <a:noFill/>
        </p:spPr>
        <p:txBody>
          <a:bodyPr wrap="square" lIns="54864" rIns="54864" tIns="54864" bIns="54864" anchor="t">
            <a:spAutoFit/>
          </a:bodyPr>
          <a:lstStyle/>
          <a:p>
            <a:pPr algn="l"/>
            <a:r>
              <a:rPr sz="1500" b="0">
                <a:solidFill>
                  <a:srgbClr val="23322D"/>
                </a:solidFill>
                <a:latin typeface="Aptos"/>
              </a:rPr>
              <a:t>Reference data
not loaded at startup</a:t>
            </a:r>
          </a:p>
        </p:txBody>
      </p:sp>
      <p:cxnSp>
        <p:nvCxnSpPr>
          <p:cNvPr id="22" name="Connector 21"/>
          <p:cNvCxnSpPr/>
          <p:nvPr/>
        </p:nvCxnSpPr>
        <p:spPr>
          <a:xfrm>
            <a:off x="3931920" y="3154680"/>
            <a:ext cx="731520" cy="0"/>
          </a:xfrm>
          <a:prstGeom prst="line">
            <a:avLst/>
          </a:prstGeom>
          <a:ln w="25400">
            <a:solidFill>
              <a:srgbClr val="26735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7726679" y="3154680"/>
            <a:ext cx="731521" cy="0"/>
          </a:xfrm>
          <a:prstGeom prst="line">
            <a:avLst/>
          </a:prstGeom>
          <a:ln w="25400">
            <a:solidFill>
              <a:srgbClr val="267354"/>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4069080" y="2788920"/>
            <a:ext cx="1005840" cy="228600"/>
          </a:xfrm>
          <a:prstGeom prst="rect">
            <a:avLst/>
          </a:prstGeom>
          <a:noFill/>
        </p:spPr>
        <p:txBody>
          <a:bodyPr wrap="square" lIns="54864" rIns="54864" tIns="54864" bIns="54864" anchor="t">
            <a:spAutoFit/>
          </a:bodyPr>
          <a:lstStyle/>
          <a:p>
            <a:pPr algn="ctr"/>
            <a:r>
              <a:rPr sz="1000" b="1">
                <a:solidFill>
                  <a:srgbClr val="67776E"/>
                </a:solidFill>
                <a:latin typeface="Aptos"/>
              </a:rPr>
              <a:t>Browser UI</a:t>
            </a:r>
          </a:p>
        </p:txBody>
      </p:sp>
      <p:sp>
        <p:nvSpPr>
          <p:cNvPr id="25" name="TextBox 24"/>
          <p:cNvSpPr txBox="1"/>
          <p:nvPr/>
        </p:nvSpPr>
        <p:spPr>
          <a:xfrm>
            <a:off x="7818120" y="2788920"/>
            <a:ext cx="1005840" cy="228600"/>
          </a:xfrm>
          <a:prstGeom prst="rect">
            <a:avLst/>
          </a:prstGeom>
          <a:noFill/>
        </p:spPr>
        <p:txBody>
          <a:bodyPr wrap="square" lIns="54864" rIns="54864" tIns="54864" bIns="54864" anchor="t">
            <a:spAutoFit/>
          </a:bodyPr>
          <a:lstStyle/>
          <a:p>
            <a:pPr algn="ctr"/>
            <a:r>
              <a:rPr sz="1000" b="1">
                <a:solidFill>
                  <a:srgbClr val="67776E"/>
                </a:solidFill>
                <a:latin typeface="Aptos"/>
              </a:rPr>
              <a:t>API boundary</a:t>
            </a:r>
          </a:p>
        </p:txBody>
      </p:sp>
      <p:sp>
        <p:nvSpPr>
          <p:cNvPr id="26" name="Rounded Rectangle 25"/>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index.html starts the app; main.js controls behavior; app.py is the trusted business boundary.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STARTUP</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What happens when the frontend opens</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04</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777240" y="1645920"/>
            <a:ext cx="475488" cy="475488"/>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19072"/>
            <a:ext cx="475488" cy="256032"/>
          </a:xfrm>
          <a:prstGeom prst="rect">
            <a:avLst/>
          </a:prstGeom>
          <a:noFill/>
        </p:spPr>
        <p:txBody>
          <a:bodyPr wrap="square" lIns="54864" rIns="54864" tIns="54864" bIns="54864" anchor="t">
            <a:spAutoFit/>
          </a:bodyPr>
          <a:lstStyle/>
          <a:p>
            <a:pPr algn="ctr"/>
            <a:r>
              <a:rPr sz="1400" b="1">
                <a:solidFill>
                  <a:srgbClr val="FFFFFF"/>
                </a:solidFill>
                <a:latin typeface="Aptos"/>
              </a:rPr>
              <a:t>1</a:t>
            </a:r>
          </a:p>
        </p:txBody>
      </p:sp>
      <p:sp>
        <p:nvSpPr>
          <p:cNvPr id="9" name="TextBox 8"/>
          <p:cNvSpPr txBox="1"/>
          <p:nvPr/>
        </p:nvSpPr>
        <p:spPr>
          <a:xfrm>
            <a:off x="1508760" y="1627632"/>
            <a:ext cx="2286000" cy="256032"/>
          </a:xfrm>
          <a:prstGeom prst="rect">
            <a:avLst/>
          </a:prstGeom>
          <a:noFill/>
        </p:spPr>
        <p:txBody>
          <a:bodyPr wrap="square" lIns="54864" rIns="54864" tIns="54864" bIns="54864" anchor="t">
            <a:spAutoFit/>
          </a:bodyPr>
          <a:lstStyle/>
          <a:p>
            <a:pPr algn="l"/>
            <a:r>
              <a:rPr sz="1600" b="1">
                <a:solidFill>
                  <a:srgbClr val="267354"/>
                </a:solidFill>
                <a:latin typeface="Consolas"/>
              </a:rPr>
              <a:t>index.html</a:t>
            </a:r>
          </a:p>
        </p:txBody>
      </p:sp>
      <p:sp>
        <p:nvSpPr>
          <p:cNvPr id="10" name="TextBox 9"/>
          <p:cNvSpPr txBox="1"/>
          <p:nvPr/>
        </p:nvSpPr>
        <p:spPr>
          <a:xfrm>
            <a:off x="3794760" y="1627632"/>
            <a:ext cx="7040880" cy="384048"/>
          </a:xfrm>
          <a:prstGeom prst="rect">
            <a:avLst/>
          </a:prstGeom>
          <a:noFill/>
        </p:spPr>
        <p:txBody>
          <a:bodyPr wrap="square" lIns="54864" rIns="54864" tIns="54864" bIns="54864" anchor="t">
            <a:spAutoFit/>
          </a:bodyPr>
          <a:lstStyle/>
          <a:p>
            <a:pPr algn="l"/>
            <a:r>
              <a:rPr sz="1500" b="0">
                <a:solidFill>
                  <a:srgbClr val="23322D"/>
                </a:solidFill>
                <a:latin typeface="Aptos"/>
              </a:rPr>
              <a:t>Creates &lt;div id="root"&gt; and loads main.js.</a:t>
            </a:r>
          </a:p>
        </p:txBody>
      </p:sp>
      <p:cxnSp>
        <p:nvCxnSpPr>
          <p:cNvPr id="11" name="Connector 10"/>
          <p:cNvCxnSpPr/>
          <p:nvPr/>
        </p:nvCxnSpPr>
        <p:spPr>
          <a:xfrm>
            <a:off x="1014984" y="2121408"/>
            <a:ext cx="0" cy="329184"/>
          </a:xfrm>
          <a:prstGeom prst="line">
            <a:avLst/>
          </a:prstGeom>
          <a:ln w="19050">
            <a:solidFill>
              <a:srgbClr val="B1CDBC"/>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2450592"/>
            <a:ext cx="475488" cy="475488"/>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77240" y="2523744"/>
            <a:ext cx="475488" cy="256032"/>
          </a:xfrm>
          <a:prstGeom prst="rect">
            <a:avLst/>
          </a:prstGeom>
          <a:noFill/>
        </p:spPr>
        <p:txBody>
          <a:bodyPr wrap="square" lIns="54864" rIns="54864" tIns="54864" bIns="54864" anchor="t">
            <a:spAutoFit/>
          </a:bodyPr>
          <a:lstStyle/>
          <a:p>
            <a:pPr algn="ctr"/>
            <a:r>
              <a:rPr sz="1400" b="1">
                <a:solidFill>
                  <a:srgbClr val="FFFFFF"/>
                </a:solidFill>
                <a:latin typeface="Aptos"/>
              </a:rPr>
              <a:t>2</a:t>
            </a:r>
          </a:p>
        </p:txBody>
      </p:sp>
      <p:sp>
        <p:nvSpPr>
          <p:cNvPr id="14" name="TextBox 13"/>
          <p:cNvSpPr txBox="1"/>
          <p:nvPr/>
        </p:nvSpPr>
        <p:spPr>
          <a:xfrm>
            <a:off x="1508760" y="2432304"/>
            <a:ext cx="2286000" cy="256032"/>
          </a:xfrm>
          <a:prstGeom prst="rect">
            <a:avLst/>
          </a:prstGeom>
          <a:noFill/>
        </p:spPr>
        <p:txBody>
          <a:bodyPr wrap="square" lIns="54864" rIns="54864" tIns="54864" bIns="54864" anchor="t">
            <a:spAutoFit/>
          </a:bodyPr>
          <a:lstStyle/>
          <a:p>
            <a:pPr algn="l"/>
            <a:r>
              <a:rPr sz="1600" b="1">
                <a:solidFill>
                  <a:srgbClr val="267354"/>
                </a:solidFill>
                <a:latin typeface="Consolas"/>
              </a:rPr>
              <a:t>main.js</a:t>
            </a:r>
          </a:p>
        </p:txBody>
      </p:sp>
      <p:sp>
        <p:nvSpPr>
          <p:cNvPr id="15" name="TextBox 14"/>
          <p:cNvSpPr txBox="1"/>
          <p:nvPr/>
        </p:nvSpPr>
        <p:spPr>
          <a:xfrm>
            <a:off x="3794760" y="2432304"/>
            <a:ext cx="7040880" cy="384048"/>
          </a:xfrm>
          <a:prstGeom prst="rect">
            <a:avLst/>
          </a:prstGeom>
          <a:noFill/>
        </p:spPr>
        <p:txBody>
          <a:bodyPr wrap="square" lIns="54864" rIns="54864" tIns="54864" bIns="54864" anchor="t">
            <a:spAutoFit/>
          </a:bodyPr>
          <a:lstStyle/>
          <a:p>
            <a:pPr algn="l"/>
            <a:r>
              <a:rPr sz="1500" b="0">
                <a:solidFill>
                  <a:srgbClr val="23322D"/>
                </a:solidFill>
                <a:latin typeface="Aptos"/>
              </a:rPr>
              <a:t>Imports styles.css, reads localStorage, initializes state.</a:t>
            </a:r>
          </a:p>
        </p:txBody>
      </p:sp>
      <p:cxnSp>
        <p:nvCxnSpPr>
          <p:cNvPr id="16" name="Connector 15"/>
          <p:cNvCxnSpPr/>
          <p:nvPr/>
        </p:nvCxnSpPr>
        <p:spPr>
          <a:xfrm>
            <a:off x="1014984" y="2926080"/>
            <a:ext cx="0" cy="329184"/>
          </a:xfrm>
          <a:prstGeom prst="line">
            <a:avLst/>
          </a:prstGeom>
          <a:ln w="19050">
            <a:solidFill>
              <a:srgbClr val="B1CDBC"/>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3255264"/>
            <a:ext cx="475488" cy="475488"/>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7240" y="3328416"/>
            <a:ext cx="475488" cy="256032"/>
          </a:xfrm>
          <a:prstGeom prst="rect">
            <a:avLst/>
          </a:prstGeom>
          <a:noFill/>
        </p:spPr>
        <p:txBody>
          <a:bodyPr wrap="square" lIns="54864" rIns="54864" tIns="54864" bIns="54864" anchor="t">
            <a:spAutoFit/>
          </a:bodyPr>
          <a:lstStyle/>
          <a:p>
            <a:pPr algn="ctr"/>
            <a:r>
              <a:rPr sz="1400" b="1">
                <a:solidFill>
                  <a:srgbClr val="FFFFFF"/>
                </a:solidFill>
                <a:latin typeface="Aptos"/>
              </a:rPr>
              <a:t>3</a:t>
            </a:r>
          </a:p>
        </p:txBody>
      </p:sp>
      <p:sp>
        <p:nvSpPr>
          <p:cNvPr id="19" name="TextBox 18"/>
          <p:cNvSpPr txBox="1"/>
          <p:nvPr/>
        </p:nvSpPr>
        <p:spPr>
          <a:xfrm>
            <a:off x="1508760" y="3236976"/>
            <a:ext cx="2286000" cy="256032"/>
          </a:xfrm>
          <a:prstGeom prst="rect">
            <a:avLst/>
          </a:prstGeom>
          <a:noFill/>
        </p:spPr>
        <p:txBody>
          <a:bodyPr wrap="square" lIns="54864" rIns="54864" tIns="54864" bIns="54864" anchor="t">
            <a:spAutoFit/>
          </a:bodyPr>
          <a:lstStyle/>
          <a:p>
            <a:pPr algn="l"/>
            <a:r>
              <a:rPr sz="1600" b="1">
                <a:solidFill>
                  <a:srgbClr val="267354"/>
                </a:solidFill>
                <a:latin typeface="Consolas"/>
              </a:rPr>
              <a:t>render()</a:t>
            </a:r>
          </a:p>
        </p:txBody>
      </p:sp>
      <p:sp>
        <p:nvSpPr>
          <p:cNvPr id="20" name="TextBox 19"/>
          <p:cNvSpPr txBox="1"/>
          <p:nvPr/>
        </p:nvSpPr>
        <p:spPr>
          <a:xfrm>
            <a:off x="3794760" y="3236976"/>
            <a:ext cx="7040880" cy="384048"/>
          </a:xfrm>
          <a:prstGeom prst="rect">
            <a:avLst/>
          </a:prstGeom>
          <a:noFill/>
        </p:spPr>
        <p:txBody>
          <a:bodyPr wrap="square" lIns="54864" rIns="54864" tIns="54864" bIns="54864" anchor="t">
            <a:spAutoFit/>
          </a:bodyPr>
          <a:lstStyle/>
          <a:p>
            <a:pPr algn="l"/>
            <a:r>
              <a:rPr sz="1500" b="0">
                <a:solidFill>
                  <a:srgbClr val="23322D"/>
                </a:solidFill>
                <a:latin typeface="Aptos"/>
              </a:rPr>
              <a:t>Shows login if no user exists; otherwise shows the app shell.</a:t>
            </a:r>
          </a:p>
        </p:txBody>
      </p:sp>
      <p:cxnSp>
        <p:nvCxnSpPr>
          <p:cNvPr id="21" name="Connector 20"/>
          <p:cNvCxnSpPr/>
          <p:nvPr/>
        </p:nvCxnSpPr>
        <p:spPr>
          <a:xfrm>
            <a:off x="1014984" y="3730752"/>
            <a:ext cx="0" cy="329184"/>
          </a:xfrm>
          <a:prstGeom prst="line">
            <a:avLst/>
          </a:prstGeom>
          <a:ln w="19050">
            <a:solidFill>
              <a:srgbClr val="B1CDBC"/>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77240" y="4059936"/>
            <a:ext cx="475488" cy="475488"/>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4133088"/>
            <a:ext cx="475488" cy="256032"/>
          </a:xfrm>
          <a:prstGeom prst="rect">
            <a:avLst/>
          </a:prstGeom>
          <a:noFill/>
        </p:spPr>
        <p:txBody>
          <a:bodyPr wrap="square" lIns="54864" rIns="54864" tIns="54864" bIns="54864" anchor="t">
            <a:spAutoFit/>
          </a:bodyPr>
          <a:lstStyle/>
          <a:p>
            <a:pPr algn="ctr"/>
            <a:r>
              <a:rPr sz="1400" b="1">
                <a:solidFill>
                  <a:srgbClr val="FFFFFF"/>
                </a:solidFill>
                <a:latin typeface="Aptos"/>
              </a:rPr>
              <a:t>4</a:t>
            </a:r>
          </a:p>
        </p:txBody>
      </p:sp>
      <p:sp>
        <p:nvSpPr>
          <p:cNvPr id="24" name="TextBox 23"/>
          <p:cNvSpPr txBox="1"/>
          <p:nvPr/>
        </p:nvSpPr>
        <p:spPr>
          <a:xfrm>
            <a:off x="1508760" y="4041648"/>
            <a:ext cx="2286000" cy="256032"/>
          </a:xfrm>
          <a:prstGeom prst="rect">
            <a:avLst/>
          </a:prstGeom>
          <a:noFill/>
        </p:spPr>
        <p:txBody>
          <a:bodyPr wrap="square" lIns="54864" rIns="54864" tIns="54864" bIns="54864" anchor="t">
            <a:spAutoFit/>
          </a:bodyPr>
          <a:lstStyle/>
          <a:p>
            <a:pPr algn="l"/>
            <a:r>
              <a:rPr sz="1600" b="1">
                <a:solidFill>
                  <a:srgbClr val="267354"/>
                </a:solidFill>
                <a:latin typeface="Consolas"/>
              </a:rPr>
              <a:t>loadData()</a:t>
            </a:r>
          </a:p>
        </p:txBody>
      </p:sp>
      <p:sp>
        <p:nvSpPr>
          <p:cNvPr id="25" name="TextBox 24"/>
          <p:cNvSpPr txBox="1"/>
          <p:nvPr/>
        </p:nvSpPr>
        <p:spPr>
          <a:xfrm>
            <a:off x="3794760" y="4041648"/>
            <a:ext cx="7040880" cy="384048"/>
          </a:xfrm>
          <a:prstGeom prst="rect">
            <a:avLst/>
          </a:prstGeom>
          <a:noFill/>
        </p:spPr>
        <p:txBody>
          <a:bodyPr wrap="square" lIns="54864" rIns="54864" tIns="54864" bIns="54864" anchor="t">
            <a:spAutoFit/>
          </a:bodyPr>
          <a:lstStyle/>
          <a:p>
            <a:pPr algn="l"/>
            <a:r>
              <a:rPr sz="1500" b="0">
                <a:solidFill>
                  <a:srgbClr val="23322D"/>
                </a:solidFill>
                <a:latin typeface="Aptos"/>
              </a:rPr>
              <a:t>Requests summary, products, suppliers, purchases, and admin data.</a:t>
            </a:r>
          </a:p>
        </p:txBody>
      </p:sp>
      <p:cxnSp>
        <p:nvCxnSpPr>
          <p:cNvPr id="26" name="Connector 25"/>
          <p:cNvCxnSpPr/>
          <p:nvPr/>
        </p:nvCxnSpPr>
        <p:spPr>
          <a:xfrm>
            <a:off x="1014984" y="4535424"/>
            <a:ext cx="0" cy="329184"/>
          </a:xfrm>
          <a:prstGeom prst="line">
            <a:avLst/>
          </a:prstGeom>
          <a:ln w="19050">
            <a:solidFill>
              <a:srgbClr val="B1CDBC"/>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77240" y="4864608"/>
            <a:ext cx="475488" cy="475488"/>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77240" y="4937760"/>
            <a:ext cx="475488" cy="256032"/>
          </a:xfrm>
          <a:prstGeom prst="rect">
            <a:avLst/>
          </a:prstGeom>
          <a:noFill/>
        </p:spPr>
        <p:txBody>
          <a:bodyPr wrap="square" lIns="54864" rIns="54864" tIns="54864" bIns="54864" anchor="t">
            <a:spAutoFit/>
          </a:bodyPr>
          <a:lstStyle/>
          <a:p>
            <a:pPr algn="ctr"/>
            <a:r>
              <a:rPr sz="1400" b="1">
                <a:solidFill>
                  <a:srgbClr val="FFFFFF"/>
                </a:solidFill>
                <a:latin typeface="Aptos"/>
              </a:rPr>
              <a:t>5</a:t>
            </a:r>
          </a:p>
        </p:txBody>
      </p:sp>
      <p:sp>
        <p:nvSpPr>
          <p:cNvPr id="29" name="TextBox 28"/>
          <p:cNvSpPr txBox="1"/>
          <p:nvPr/>
        </p:nvSpPr>
        <p:spPr>
          <a:xfrm>
            <a:off x="1508760" y="4846320"/>
            <a:ext cx="2286000" cy="256032"/>
          </a:xfrm>
          <a:prstGeom prst="rect">
            <a:avLst/>
          </a:prstGeom>
          <a:noFill/>
        </p:spPr>
        <p:txBody>
          <a:bodyPr wrap="square" lIns="54864" rIns="54864" tIns="54864" bIns="54864" anchor="t">
            <a:spAutoFit/>
          </a:bodyPr>
          <a:lstStyle/>
          <a:p>
            <a:pPr algn="l"/>
            <a:r>
              <a:rPr sz="1600" b="1">
                <a:solidFill>
                  <a:srgbClr val="267354"/>
                </a:solidFill>
                <a:latin typeface="Consolas"/>
              </a:rPr>
              <a:t>bindEvents()</a:t>
            </a:r>
          </a:p>
        </p:txBody>
      </p:sp>
      <p:sp>
        <p:nvSpPr>
          <p:cNvPr id="30" name="TextBox 29"/>
          <p:cNvSpPr txBox="1"/>
          <p:nvPr/>
        </p:nvSpPr>
        <p:spPr>
          <a:xfrm>
            <a:off x="3794760" y="4846320"/>
            <a:ext cx="7040880" cy="384048"/>
          </a:xfrm>
          <a:prstGeom prst="rect">
            <a:avLst/>
          </a:prstGeom>
          <a:noFill/>
        </p:spPr>
        <p:txBody>
          <a:bodyPr wrap="square" lIns="54864" rIns="54864" tIns="54864" bIns="54864" anchor="t">
            <a:spAutoFit/>
          </a:bodyPr>
          <a:lstStyle/>
          <a:p>
            <a:pPr algn="l"/>
            <a:r>
              <a:rPr sz="1500" b="0">
                <a:solidFill>
                  <a:srgbClr val="23322D"/>
                </a:solidFill>
                <a:latin typeface="Aptos"/>
              </a:rPr>
              <a:t>Connects buttons, forms, navigation, search, and modal actions.</a:t>
            </a:r>
          </a:p>
        </p:txBody>
      </p:sp>
      <p:sp>
        <p:nvSpPr>
          <p:cNvPr id="31" name="Rounded Rectangle 30"/>
          <p:cNvSpPr/>
          <p:nvPr/>
        </p:nvSpPr>
        <p:spPr>
          <a:xfrm>
            <a:off x="8001000" y="5349240"/>
            <a:ext cx="3429000" cy="640080"/>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147304" y="5458968"/>
            <a:ext cx="3136392" cy="420623"/>
          </a:xfrm>
          <a:prstGeom prst="rect">
            <a:avLst/>
          </a:prstGeom>
          <a:noFill/>
        </p:spPr>
        <p:txBody>
          <a:bodyPr wrap="square" lIns="54864" rIns="54864" tIns="54864" bIns="54864" anchor="t">
            <a:spAutoFit/>
          </a:bodyPr>
          <a:lstStyle/>
          <a:p>
            <a:pPr algn="l"/>
            <a:r>
              <a:rPr sz="1000" b="0">
                <a:solidFill>
                  <a:srgbClr val="FFFFFF"/>
                </a:solidFill>
                <a:latin typeface="Consolas"/>
              </a:rPr>
              <a:t>function render() {
  root.innerHTML = state.user
    ? renderApp()
    : renderLogin()
  bindEvents()
}</a:t>
            </a:r>
          </a:p>
        </p:txBody>
      </p:sp>
      <p:sp>
        <p:nvSpPr>
          <p:cNvPr id="33" name="Rounded Rectangle 32"/>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The app is a re-rendering UI: state changes cause HTML to be regenerated, then listeners are attached again.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FRONTEND CORE</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The state object is the UI memory</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05</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85800" y="1691640"/>
            <a:ext cx="4663440" cy="3474720"/>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1801368"/>
            <a:ext cx="4370831" cy="3255263"/>
          </a:xfrm>
          <a:prstGeom prst="rect">
            <a:avLst/>
          </a:prstGeom>
          <a:noFill/>
        </p:spPr>
        <p:txBody>
          <a:bodyPr wrap="square" lIns="54864" rIns="54864" tIns="54864" bIns="54864" anchor="t">
            <a:spAutoFit/>
          </a:bodyPr>
          <a:lstStyle/>
          <a:p>
            <a:pPr algn="l"/>
            <a:r>
              <a:rPr sz="1400" b="0">
                <a:solidFill>
                  <a:srgbClr val="FFFFFF"/>
                </a:solidFill>
                <a:latin typeface="Consolas"/>
              </a:rPr>
              <a:t>const state = {
  user: readUser(),
  page: 'Overview',
  summary: null,
  products: [], suppliers: [],
  purchases: [], sales: [], users: [],
  search: '', modal: null,
  loading: false, billing: {}
}</a:t>
            </a:r>
          </a:p>
        </p:txBody>
      </p:sp>
      <p:sp>
        <p:nvSpPr>
          <p:cNvPr id="9" name="Rounded Rectangle 8"/>
          <p:cNvSpPr/>
          <p:nvPr/>
        </p:nvSpPr>
        <p:spPr>
          <a:xfrm>
            <a:off x="5715000" y="1737360"/>
            <a:ext cx="5212080" cy="3383280"/>
          </a:xfrm>
          <a:prstGeom prst="roundRect">
            <a:avLst/>
          </a:prstGeom>
          <a:solidFill>
            <a:srgbClr val="E2F2E8"/>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79592" y="1865376"/>
            <a:ext cx="4882896" cy="3127248"/>
          </a:xfrm>
          <a:prstGeom prst="rect">
            <a:avLst/>
          </a:prstGeom>
          <a:noFill/>
        </p:spPr>
        <p:txBody>
          <a:bodyPr wrap="square" lIns="0" rIns="0" tIns="0" bIns="0">
            <a:spAutoFit/>
          </a:bodyPr>
          <a:lstStyle/>
          <a:p>
            <a:pPr>
              <a:spcAft>
                <a:spcPts val="800"/>
              </a:spcAft>
              <a:defRPr sz="1600">
                <a:solidFill>
                  <a:srgbClr val="23322D"/>
                </a:solidFill>
                <a:latin typeface="Aptos"/>
              </a:defRPr>
            </a:pPr>
            <a:r>
              <a:t>user: who is signed in</a:t>
            </a:r>
          </a:p>
          <a:p>
            <a:pPr>
              <a:spcAft>
                <a:spcPts val="800"/>
              </a:spcAft>
              <a:defRPr sz="1600">
                <a:solidFill>
                  <a:srgbClr val="23322D"/>
                </a:solidFill>
                <a:latin typeface="Aptos"/>
              </a:defRPr>
            </a:pPr>
            <a:r>
              <a:t>page: current section</a:t>
            </a:r>
          </a:p>
          <a:p>
            <a:pPr>
              <a:spcAft>
                <a:spcPts val="800"/>
              </a:spcAft>
              <a:defRPr sz="1600">
                <a:solidFill>
                  <a:srgbClr val="23322D"/>
                </a:solidFill>
                <a:latin typeface="Aptos"/>
              </a:defRPr>
            </a:pPr>
            <a:r>
              <a:t>arrays: records loaded from Flask</a:t>
            </a:r>
          </a:p>
          <a:p>
            <a:pPr>
              <a:spcAft>
                <a:spcPts val="800"/>
              </a:spcAft>
              <a:defRPr sz="1600">
                <a:solidFill>
                  <a:srgbClr val="23322D"/>
                </a:solidFill>
                <a:latin typeface="Aptos"/>
              </a:defRPr>
            </a:pPr>
            <a:r>
              <a:t>modal: which dialog is open</a:t>
            </a:r>
          </a:p>
          <a:p>
            <a:pPr>
              <a:spcAft>
                <a:spcPts val="800"/>
              </a:spcAft>
              <a:defRPr sz="1600">
                <a:solidFill>
                  <a:srgbClr val="23322D"/>
                </a:solidFill>
                <a:latin typeface="Aptos"/>
              </a:defRPr>
            </a:pPr>
            <a:r>
              <a:t>billing: selected products and quantities</a:t>
            </a:r>
          </a:p>
          <a:p>
            <a:pPr>
              <a:spcAft>
                <a:spcPts val="800"/>
              </a:spcAft>
              <a:defRPr sz="1600">
                <a:solidFill>
                  <a:srgbClr val="23322D"/>
                </a:solidFill>
                <a:latin typeface="Aptos"/>
              </a:defRPr>
            </a:pPr>
            <a:r>
              <a:t>loading: whether requests are in progress</a:t>
            </a:r>
          </a:p>
        </p:txBody>
      </p:sp>
      <p:sp>
        <p:nvSpPr>
          <p:cNvPr id="11" name="Rounded Rectangle 10"/>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There is no framework store. The plain JavaScript object is the single source of truth for the current UI.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RENDERING</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How screens are produced</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06</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40080" y="1664208"/>
            <a:ext cx="5212080" cy="3840480"/>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1792224"/>
            <a:ext cx="4882896" cy="3584448"/>
          </a:xfrm>
          <a:prstGeom prst="rect">
            <a:avLst/>
          </a:prstGeom>
          <a:noFill/>
        </p:spPr>
        <p:txBody>
          <a:bodyPr wrap="square" lIns="0" rIns="0" tIns="0" bIns="0">
            <a:spAutoFit/>
          </a:bodyPr>
          <a:lstStyle/>
          <a:p>
            <a:pPr>
              <a:spcAft>
                <a:spcPts val="800"/>
              </a:spcAft>
              <a:defRPr sz="1600">
                <a:solidFill>
                  <a:srgbClr val="23322D"/>
                </a:solidFill>
                <a:latin typeface="Aptos"/>
              </a:defRPr>
            </a:pPr>
            <a:r>
              <a:t>renderLogin() creates the sign-in form.</a:t>
            </a:r>
          </a:p>
          <a:p>
            <a:pPr>
              <a:spcAft>
                <a:spcPts val="800"/>
              </a:spcAft>
              <a:defRPr sz="1600">
                <a:solidFill>
                  <a:srgbClr val="23322D"/>
                </a:solidFill>
                <a:latin typeface="Aptos"/>
              </a:defRPr>
            </a:pPr>
            <a:r>
              <a:t>renderApp() creates sidebar, header, page content, and optional modal.</a:t>
            </a:r>
          </a:p>
          <a:p>
            <a:pPr>
              <a:spcAft>
                <a:spcPts val="800"/>
              </a:spcAft>
              <a:defRPr sz="1600">
                <a:solidFill>
                  <a:srgbClr val="23322D"/>
                </a:solidFill>
                <a:latin typeface="Aptos"/>
              </a:defRPr>
            </a:pPr>
            <a:r>
              <a:t>renderPage() chooses a page-specific renderer.</a:t>
            </a:r>
          </a:p>
          <a:p>
            <a:pPr>
              <a:spcAft>
                <a:spcPts val="800"/>
              </a:spcAft>
              <a:defRPr sz="1600">
                <a:solidFill>
                  <a:srgbClr val="23322D"/>
                </a:solidFill>
                <a:latin typeface="Aptos"/>
              </a:defRPr>
            </a:pPr>
            <a:r>
              <a:t>renderOverview(), renderDirectory(), renderBilling(), renderReports(), and renderUsers() return HTML.</a:t>
            </a:r>
          </a:p>
          <a:p>
            <a:pPr>
              <a:spcAft>
                <a:spcPts val="800"/>
              </a:spcAft>
              <a:defRPr sz="1600">
                <a:solidFill>
                  <a:srgbClr val="23322D"/>
                </a:solidFill>
                <a:latin typeface="Aptos"/>
              </a:defRPr>
            </a:pPr>
            <a:r>
              <a:t>escapeHtml() protects values inserted into HTML tables and labels.</a:t>
            </a:r>
          </a:p>
        </p:txBody>
      </p:sp>
      <p:sp>
        <p:nvSpPr>
          <p:cNvPr id="9" name="Rounded Rectangle 8"/>
          <p:cNvSpPr/>
          <p:nvPr/>
        </p:nvSpPr>
        <p:spPr>
          <a:xfrm>
            <a:off x="6217920" y="1783080"/>
            <a:ext cx="4800600" cy="3566160"/>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2057400"/>
            <a:ext cx="4114800" cy="274320"/>
          </a:xfrm>
          <a:prstGeom prst="rect">
            <a:avLst/>
          </a:prstGeom>
          <a:noFill/>
        </p:spPr>
        <p:txBody>
          <a:bodyPr wrap="square" lIns="54864" rIns="54864" tIns="54864" bIns="54864" anchor="t">
            <a:spAutoFit/>
          </a:bodyPr>
          <a:lstStyle/>
          <a:p>
            <a:pPr algn="l"/>
            <a:r>
              <a:rPr sz="1800" b="1">
                <a:solidFill>
                  <a:srgbClr val="267354"/>
                </a:solidFill>
                <a:latin typeface="Aptos"/>
              </a:rPr>
              <a:t>Page selection</a:t>
            </a:r>
          </a:p>
        </p:txBody>
      </p:sp>
      <p:sp>
        <p:nvSpPr>
          <p:cNvPr id="11" name="TextBox 10"/>
          <p:cNvSpPr txBox="1"/>
          <p:nvPr/>
        </p:nvSpPr>
        <p:spPr>
          <a:xfrm>
            <a:off x="6537960" y="2651760"/>
            <a:ext cx="1508760" cy="347472"/>
          </a:xfrm>
          <a:prstGeom prst="rect">
            <a:avLst/>
          </a:prstGeom>
          <a:noFill/>
        </p:spPr>
        <p:txBody>
          <a:bodyPr wrap="square" lIns="54864" rIns="54864" tIns="54864" bIns="54864" anchor="ctr">
            <a:spAutoFit/>
          </a:bodyPr>
          <a:lstStyle/>
          <a:p>
            <a:pPr algn="ctr"/>
            <a:r>
              <a:rPr sz="1700" b="1">
                <a:solidFill>
                  <a:srgbClr val="FFFFFF"/>
                </a:solidFill>
                <a:latin typeface="Consolas"/>
              </a:rPr>
              <a:t>state.page</a:t>
            </a:r>
          </a:p>
        </p:txBody>
      </p:sp>
      <p:cxnSp>
        <p:nvCxnSpPr>
          <p:cNvPr id="12" name="Connector 11"/>
          <p:cNvCxnSpPr/>
          <p:nvPr/>
        </p:nvCxnSpPr>
        <p:spPr>
          <a:xfrm>
            <a:off x="8138160" y="2834640"/>
            <a:ext cx="502920" cy="0"/>
          </a:xfrm>
          <a:prstGeom prst="line">
            <a:avLst/>
          </a:prstGeom>
          <a:ln w="25400">
            <a:solidFill>
              <a:srgbClr val="267354"/>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8732520" y="2651760"/>
            <a:ext cx="1783080" cy="347472"/>
          </a:xfrm>
          <a:prstGeom prst="rect">
            <a:avLst/>
          </a:prstGeom>
          <a:noFill/>
        </p:spPr>
        <p:txBody>
          <a:bodyPr wrap="square" lIns="54864" rIns="54864" tIns="54864" bIns="54864" anchor="ctr">
            <a:spAutoFit/>
          </a:bodyPr>
          <a:lstStyle/>
          <a:p>
            <a:pPr algn="ctr"/>
            <a:r>
              <a:rPr sz="1500" b="1">
                <a:solidFill>
                  <a:srgbClr val="FFFFFF"/>
                </a:solidFill>
                <a:latin typeface="Consolas"/>
              </a:rPr>
              <a:t>renderPage()</a:t>
            </a:r>
          </a:p>
        </p:txBody>
      </p:sp>
      <p:cxnSp>
        <p:nvCxnSpPr>
          <p:cNvPr id="14" name="Connector 13"/>
          <p:cNvCxnSpPr/>
          <p:nvPr/>
        </p:nvCxnSpPr>
        <p:spPr>
          <a:xfrm>
            <a:off x="9646920" y="3154680"/>
            <a:ext cx="0" cy="393192"/>
          </a:xfrm>
          <a:prstGeom prst="line">
            <a:avLst/>
          </a:prstGeom>
          <a:ln w="25400">
            <a:solidFill>
              <a:srgbClr val="267354"/>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315200" y="3657600"/>
            <a:ext cx="4572000" cy="685800"/>
          </a:xfrm>
          <a:prstGeom prst="rect">
            <a:avLst/>
          </a:prstGeom>
          <a:noFill/>
        </p:spPr>
        <p:txBody>
          <a:bodyPr wrap="square" lIns="54864" rIns="54864" tIns="54864" bIns="54864" anchor="t">
            <a:spAutoFit/>
          </a:bodyPr>
          <a:lstStyle/>
          <a:p>
            <a:pPr algn="ctr"/>
            <a:r>
              <a:rPr sz="1600" b="1">
                <a:solidFill>
                  <a:srgbClr val="23322D"/>
                </a:solidFill>
                <a:latin typeface="Aptos"/>
              </a:rPr>
              <a:t>Overview | Inventory | Billing
Reports | Users | directories</a:t>
            </a:r>
          </a:p>
        </p:txBody>
      </p:sp>
      <p:sp>
        <p:nvSpPr>
          <p:cNvPr id="16" name="Rounded Rectangle 15"/>
          <p:cNvSpPr/>
          <p:nvPr/>
        </p:nvSpPr>
        <p:spPr>
          <a:xfrm>
            <a:off x="6903720" y="4645152"/>
            <a:ext cx="2468880" cy="566928"/>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050024" y="4754880"/>
            <a:ext cx="2176272" cy="347472"/>
          </a:xfrm>
          <a:prstGeom prst="rect">
            <a:avLst/>
          </a:prstGeom>
          <a:noFill/>
        </p:spPr>
        <p:txBody>
          <a:bodyPr wrap="square" lIns="54864" rIns="54864" tIns="54864" bIns="54864" anchor="t">
            <a:spAutoFit/>
          </a:bodyPr>
          <a:lstStyle/>
          <a:p>
            <a:pPr algn="l"/>
            <a:r>
              <a:rPr sz="1100" b="0">
                <a:solidFill>
                  <a:srgbClr val="FFFFFF"/>
                </a:solidFill>
                <a:latin typeface="Consolas"/>
              </a:rPr>
              <a:t>state.page = 'Inventory'
render()</a:t>
            </a:r>
          </a:p>
        </p:txBody>
      </p:sp>
      <p:sp>
        <p:nvSpPr>
          <p:cNvPr id="18" name="Rounded Rectangle 17"/>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Navigation is controlled by changing state.page, then rendering the new page.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AUTHENTICATION</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Login and token flow</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07</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40080" y="1920240"/>
            <a:ext cx="1783080" cy="960120"/>
          </a:xfrm>
          <a:prstGeom prst="roundRect">
            <a:avLst/>
          </a:prstGeom>
          <a:solidFill>
            <a:srgbClr val="E5F0F8"/>
          </a:solidFill>
          <a:ln w="10160">
            <a:solidFill>
              <a:srgbClr val="E5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1" y="2148840"/>
            <a:ext cx="1636776" cy="411480"/>
          </a:xfrm>
          <a:prstGeom prst="rect">
            <a:avLst/>
          </a:prstGeom>
          <a:noFill/>
        </p:spPr>
        <p:txBody>
          <a:bodyPr wrap="square" lIns="54864" rIns="54864" tIns="54864" bIns="54864" anchor="ctr">
            <a:spAutoFit/>
          </a:bodyPr>
          <a:lstStyle/>
          <a:p>
            <a:pPr algn="ctr"/>
            <a:r>
              <a:rPr sz="1400" b="1">
                <a:solidFill>
                  <a:srgbClr val="43779D"/>
                </a:solidFill>
                <a:latin typeface="Aptos"/>
              </a:rPr>
              <a:t>Login form</a:t>
            </a:r>
          </a:p>
        </p:txBody>
      </p:sp>
      <p:cxnSp>
        <p:nvCxnSpPr>
          <p:cNvPr id="9" name="Connector 8"/>
          <p:cNvCxnSpPr/>
          <p:nvPr/>
        </p:nvCxnSpPr>
        <p:spPr>
          <a:xfrm>
            <a:off x="2423160" y="2395728"/>
            <a:ext cx="393192" cy="0"/>
          </a:xfrm>
          <a:prstGeom prst="line">
            <a:avLst/>
          </a:prstGeom>
          <a:ln w="19050">
            <a:solidFill>
              <a:srgbClr val="67776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880360" y="1920240"/>
            <a:ext cx="1783080" cy="960120"/>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53512" y="2148840"/>
            <a:ext cx="1636776" cy="411480"/>
          </a:xfrm>
          <a:prstGeom prst="rect">
            <a:avLst/>
          </a:prstGeom>
          <a:noFill/>
        </p:spPr>
        <p:txBody>
          <a:bodyPr wrap="square" lIns="54864" rIns="54864" tIns="54864" bIns="54864" anchor="ctr">
            <a:spAutoFit/>
          </a:bodyPr>
          <a:lstStyle/>
          <a:p>
            <a:pPr algn="ctr"/>
            <a:r>
              <a:rPr sz="1400" b="1">
                <a:solidFill>
                  <a:srgbClr val="267354"/>
                </a:solidFill>
                <a:latin typeface="Aptos"/>
              </a:rPr>
              <a:t>POST /auth/login</a:t>
            </a:r>
          </a:p>
        </p:txBody>
      </p:sp>
      <p:cxnSp>
        <p:nvCxnSpPr>
          <p:cNvPr id="12" name="Connector 11"/>
          <p:cNvCxnSpPr/>
          <p:nvPr/>
        </p:nvCxnSpPr>
        <p:spPr>
          <a:xfrm>
            <a:off x="4663440" y="2395728"/>
            <a:ext cx="393192" cy="0"/>
          </a:xfrm>
          <a:prstGeom prst="line">
            <a:avLst/>
          </a:prstGeom>
          <a:ln w="19050">
            <a:solidFill>
              <a:srgbClr val="67776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120640" y="1920240"/>
            <a:ext cx="1783080" cy="960120"/>
          </a:xfrm>
          <a:prstGeom prst="roundRect">
            <a:avLst/>
          </a:prstGeom>
          <a:solidFill>
            <a:srgbClr val="FFF5DA"/>
          </a:solidFill>
          <a:ln w="10160">
            <a:solidFill>
              <a:srgbClr val="FFF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193792" y="2148840"/>
            <a:ext cx="1636776" cy="411480"/>
          </a:xfrm>
          <a:prstGeom prst="rect">
            <a:avLst/>
          </a:prstGeom>
          <a:noFill/>
        </p:spPr>
        <p:txBody>
          <a:bodyPr wrap="square" lIns="54864" rIns="54864" tIns="54864" bIns="54864" anchor="ctr">
            <a:spAutoFit/>
          </a:bodyPr>
          <a:lstStyle/>
          <a:p>
            <a:pPr algn="ctr"/>
            <a:r>
              <a:rPr sz="1400" b="1">
                <a:solidFill>
                  <a:srgbClr val="D29B27"/>
                </a:solidFill>
                <a:latin typeface="Aptos"/>
              </a:rPr>
              <a:t>Flask validates</a:t>
            </a:r>
          </a:p>
        </p:txBody>
      </p:sp>
      <p:cxnSp>
        <p:nvCxnSpPr>
          <p:cNvPr id="15" name="Connector 14"/>
          <p:cNvCxnSpPr/>
          <p:nvPr/>
        </p:nvCxnSpPr>
        <p:spPr>
          <a:xfrm>
            <a:off x="6903720" y="2395728"/>
            <a:ext cx="393192" cy="0"/>
          </a:xfrm>
          <a:prstGeom prst="line">
            <a:avLst/>
          </a:prstGeom>
          <a:ln w="19050">
            <a:solidFill>
              <a:srgbClr val="67776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60920" y="1920240"/>
            <a:ext cx="1783080" cy="960120"/>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34072" y="2148840"/>
            <a:ext cx="1636776" cy="411480"/>
          </a:xfrm>
          <a:prstGeom prst="rect">
            <a:avLst/>
          </a:prstGeom>
          <a:noFill/>
        </p:spPr>
        <p:txBody>
          <a:bodyPr wrap="square" lIns="54864" rIns="54864" tIns="54864" bIns="54864" anchor="ctr">
            <a:spAutoFit/>
          </a:bodyPr>
          <a:lstStyle/>
          <a:p>
            <a:pPr algn="ctr"/>
            <a:r>
              <a:rPr sz="1400" b="1">
                <a:solidFill>
                  <a:srgbClr val="267354"/>
                </a:solidFill>
                <a:latin typeface="Aptos"/>
              </a:rPr>
              <a:t>Token + user</a:t>
            </a:r>
          </a:p>
        </p:txBody>
      </p:sp>
      <p:cxnSp>
        <p:nvCxnSpPr>
          <p:cNvPr id="18" name="Connector 17"/>
          <p:cNvCxnSpPr/>
          <p:nvPr/>
        </p:nvCxnSpPr>
        <p:spPr>
          <a:xfrm>
            <a:off x="9144000" y="2395728"/>
            <a:ext cx="393192" cy="0"/>
          </a:xfrm>
          <a:prstGeom prst="line">
            <a:avLst/>
          </a:prstGeom>
          <a:ln w="19050">
            <a:solidFill>
              <a:srgbClr val="67776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01200" y="1920240"/>
            <a:ext cx="1783080" cy="960120"/>
          </a:xfrm>
          <a:prstGeom prst="roundRect">
            <a:avLst/>
          </a:prstGeom>
          <a:solidFill>
            <a:srgbClr val="E5F0F8"/>
          </a:solidFill>
          <a:ln w="10160">
            <a:solidFill>
              <a:srgbClr val="E5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74352" y="2148840"/>
            <a:ext cx="1636776" cy="411480"/>
          </a:xfrm>
          <a:prstGeom prst="rect">
            <a:avLst/>
          </a:prstGeom>
          <a:noFill/>
        </p:spPr>
        <p:txBody>
          <a:bodyPr wrap="square" lIns="54864" rIns="54864" tIns="54864" bIns="54864" anchor="ctr">
            <a:spAutoFit/>
          </a:bodyPr>
          <a:lstStyle/>
          <a:p>
            <a:pPr algn="ctr"/>
            <a:r>
              <a:rPr sz="1400" b="1">
                <a:solidFill>
                  <a:srgbClr val="43779D"/>
                </a:solidFill>
                <a:latin typeface="Aptos"/>
              </a:rPr>
              <a:t>localStorage</a:t>
            </a:r>
          </a:p>
        </p:txBody>
      </p:sp>
      <p:sp>
        <p:nvSpPr>
          <p:cNvPr id="21" name="Rounded Rectangle 20"/>
          <p:cNvSpPr/>
          <p:nvPr/>
        </p:nvSpPr>
        <p:spPr>
          <a:xfrm>
            <a:off x="1005840" y="3794760"/>
            <a:ext cx="5623560" cy="777240"/>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52144" y="3904488"/>
            <a:ext cx="5330952" cy="557784"/>
          </a:xfrm>
          <a:prstGeom prst="rect">
            <a:avLst/>
          </a:prstGeom>
          <a:noFill/>
        </p:spPr>
        <p:txBody>
          <a:bodyPr wrap="square" lIns="54864" rIns="54864" tIns="54864" bIns="54864" anchor="t">
            <a:spAutoFit/>
          </a:bodyPr>
          <a:lstStyle/>
          <a:p>
            <a:pPr algn="l"/>
            <a:r>
              <a:rPr sz="1200" b="0">
                <a:solidFill>
                  <a:srgbClr val="FFFFFF"/>
                </a:solidFill>
                <a:latin typeface="Consolas"/>
              </a:rPr>
              <a:t>localStorage.setItem('grocery_token', result.token)
localStorage.setItem('grocery_user', JSON.stringify(result.user))</a:t>
            </a:r>
          </a:p>
        </p:txBody>
      </p:sp>
      <p:sp>
        <p:nvSpPr>
          <p:cNvPr id="23" name="Rounded Rectangle 22"/>
          <p:cNvSpPr/>
          <p:nvPr/>
        </p:nvSpPr>
        <p:spPr>
          <a:xfrm>
            <a:off x="6995160" y="3520440"/>
            <a:ext cx="4251960" cy="1828800"/>
          </a:xfrm>
          <a:prstGeom prst="roundRect">
            <a:avLst/>
          </a:prstGeom>
          <a:solidFill>
            <a:srgbClr val="FCE9E5"/>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59752" y="3648456"/>
            <a:ext cx="3922776" cy="1572768"/>
          </a:xfrm>
          <a:prstGeom prst="rect">
            <a:avLst/>
          </a:prstGeom>
          <a:noFill/>
        </p:spPr>
        <p:txBody>
          <a:bodyPr wrap="square" lIns="0" rIns="0" tIns="0" bIns="0">
            <a:spAutoFit/>
          </a:bodyPr>
          <a:lstStyle/>
          <a:p>
            <a:pPr>
              <a:spcAft>
                <a:spcPts val="800"/>
              </a:spcAft>
              <a:defRPr sz="1500">
                <a:solidFill>
                  <a:srgbClr val="23322D"/>
                </a:solidFill>
                <a:latin typeface="Aptos"/>
              </a:defRPr>
            </a:pPr>
            <a:r>
              <a:t>apiFetch() reads the token and adds Authorization: Bearer &lt;token&gt;.</a:t>
            </a:r>
          </a:p>
          <a:p>
            <a:pPr>
              <a:spcAft>
                <a:spcPts val="800"/>
              </a:spcAft>
              <a:defRPr sz="1500">
                <a:solidFill>
                  <a:srgbClr val="23322D"/>
                </a:solidFill>
                <a:latin typeface="Aptos"/>
              </a:defRPr>
            </a:pPr>
            <a:r>
              <a:t>A 401 response calls logout().</a:t>
            </a:r>
          </a:p>
          <a:p>
            <a:pPr>
              <a:spcAft>
                <a:spcPts val="800"/>
              </a:spcAft>
              <a:defRPr sz="1500">
                <a:solidFill>
                  <a:srgbClr val="23322D"/>
                </a:solidFill>
                <a:latin typeface="Aptos"/>
              </a:defRPr>
            </a:pPr>
            <a:r>
              <a:t>Passwords are never stored in the frontend; Flask stores password hashes.</a:t>
            </a:r>
          </a:p>
        </p:txBody>
      </p:sp>
      <p:sp>
        <p:nvSpPr>
          <p:cNvPr id="25" name="Rounded Rectangle 24"/>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The token identifies the session; every protected API request depends on it.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AUTHORIZATION</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Admin and staff roles</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08</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85800" y="1691640"/>
            <a:ext cx="5166360" cy="3611880"/>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965960"/>
            <a:ext cx="4297680" cy="365760"/>
          </a:xfrm>
          <a:prstGeom prst="rect">
            <a:avLst/>
          </a:prstGeom>
          <a:noFill/>
        </p:spPr>
        <p:txBody>
          <a:bodyPr wrap="square" lIns="54864" rIns="54864" tIns="54864" bIns="54864" anchor="t">
            <a:spAutoFit/>
          </a:bodyPr>
          <a:lstStyle/>
          <a:p>
            <a:pPr algn="l"/>
            <a:r>
              <a:rPr sz="2200" b="1">
                <a:solidFill>
                  <a:srgbClr val="267354"/>
                </a:solidFill>
                <a:latin typeface="Aptos"/>
              </a:rPr>
              <a:t>Administrator</a:t>
            </a:r>
          </a:p>
        </p:txBody>
      </p:sp>
      <p:sp>
        <p:nvSpPr>
          <p:cNvPr id="9" name="TextBox 8"/>
          <p:cNvSpPr txBox="1"/>
          <p:nvPr/>
        </p:nvSpPr>
        <p:spPr>
          <a:xfrm>
            <a:off x="1005840" y="2542032"/>
            <a:ext cx="1554480" cy="274320"/>
          </a:xfrm>
          <a:prstGeom prst="rect">
            <a:avLst/>
          </a:prstGeom>
          <a:noFill/>
        </p:spPr>
        <p:txBody>
          <a:bodyPr wrap="square" lIns="54864" rIns="54864" tIns="54864" bIns="54864" anchor="t">
            <a:spAutoFit/>
          </a:bodyPr>
          <a:lstStyle/>
          <a:p>
            <a:pPr algn="l"/>
            <a:r>
              <a:rPr sz="1400" b="1">
                <a:solidFill>
                  <a:srgbClr val="23322D"/>
                </a:solidFill>
                <a:latin typeface="Aptos"/>
              </a:rPr>
              <a:t>Can access:</a:t>
            </a:r>
          </a:p>
        </p:txBody>
      </p:sp>
      <p:sp>
        <p:nvSpPr>
          <p:cNvPr id="10" name="TextBox 9"/>
          <p:cNvSpPr txBox="1"/>
          <p:nvPr/>
        </p:nvSpPr>
        <p:spPr>
          <a:xfrm>
            <a:off x="1005840" y="2907792"/>
            <a:ext cx="4297680" cy="1234440"/>
          </a:xfrm>
          <a:prstGeom prst="rect">
            <a:avLst/>
          </a:prstGeom>
          <a:noFill/>
        </p:spPr>
        <p:txBody>
          <a:bodyPr wrap="square" lIns="54864" rIns="54864" tIns="54864" bIns="54864" anchor="t">
            <a:spAutoFit/>
          </a:bodyPr>
          <a:lstStyle/>
          <a:p>
            <a:pPr algn="l"/>
            <a:r>
              <a:rPr sz="1600" b="0">
                <a:solidFill>
                  <a:srgbClr val="23322D"/>
                </a:solidFill>
                <a:latin typeface="Aptos"/>
              </a:rPr>
              <a:t>Overview, Inventory, Purchases, Suppliers, Billing, Sales, Reports, Users
Can add products, suppliers, purchases, bills, and users.</a:t>
            </a:r>
          </a:p>
        </p:txBody>
      </p:sp>
      <p:sp>
        <p:nvSpPr>
          <p:cNvPr id="11" name="Rounded Rectangle 10"/>
          <p:cNvSpPr/>
          <p:nvPr/>
        </p:nvSpPr>
        <p:spPr>
          <a:xfrm>
            <a:off x="6309360" y="1691640"/>
            <a:ext cx="5166360" cy="3611880"/>
          </a:xfrm>
          <a:prstGeom prst="roundRect">
            <a:avLst/>
          </a:prstGeom>
          <a:solidFill>
            <a:srgbClr val="E5F0F8"/>
          </a:solidFill>
          <a:ln w="10160">
            <a:solidFill>
              <a:srgbClr val="E5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29400" y="1965960"/>
            <a:ext cx="4297680" cy="365760"/>
          </a:xfrm>
          <a:prstGeom prst="rect">
            <a:avLst/>
          </a:prstGeom>
          <a:noFill/>
        </p:spPr>
        <p:txBody>
          <a:bodyPr wrap="square" lIns="54864" rIns="54864" tIns="54864" bIns="54864" anchor="t">
            <a:spAutoFit/>
          </a:bodyPr>
          <a:lstStyle/>
          <a:p>
            <a:pPr algn="l"/>
            <a:r>
              <a:rPr sz="2200" b="1">
                <a:solidFill>
                  <a:srgbClr val="43779D"/>
                </a:solidFill>
                <a:latin typeface="Aptos"/>
              </a:rPr>
              <a:t>Staff member</a:t>
            </a:r>
          </a:p>
        </p:txBody>
      </p:sp>
      <p:sp>
        <p:nvSpPr>
          <p:cNvPr id="13" name="TextBox 12"/>
          <p:cNvSpPr txBox="1"/>
          <p:nvPr/>
        </p:nvSpPr>
        <p:spPr>
          <a:xfrm>
            <a:off x="6629400" y="2542032"/>
            <a:ext cx="1554480" cy="274320"/>
          </a:xfrm>
          <a:prstGeom prst="rect">
            <a:avLst/>
          </a:prstGeom>
          <a:noFill/>
        </p:spPr>
        <p:txBody>
          <a:bodyPr wrap="square" lIns="54864" rIns="54864" tIns="54864" bIns="54864" anchor="t">
            <a:spAutoFit/>
          </a:bodyPr>
          <a:lstStyle/>
          <a:p>
            <a:pPr algn="l"/>
            <a:r>
              <a:rPr sz="1400" b="1">
                <a:solidFill>
                  <a:srgbClr val="23322D"/>
                </a:solidFill>
                <a:latin typeface="Aptos"/>
              </a:rPr>
              <a:t>Can access:</a:t>
            </a:r>
          </a:p>
        </p:txBody>
      </p:sp>
      <p:sp>
        <p:nvSpPr>
          <p:cNvPr id="14" name="TextBox 13"/>
          <p:cNvSpPr txBox="1"/>
          <p:nvPr/>
        </p:nvSpPr>
        <p:spPr>
          <a:xfrm>
            <a:off x="6629400" y="2907792"/>
            <a:ext cx="4297680" cy="1234440"/>
          </a:xfrm>
          <a:prstGeom prst="rect">
            <a:avLst/>
          </a:prstGeom>
          <a:noFill/>
        </p:spPr>
        <p:txBody>
          <a:bodyPr wrap="square" lIns="54864" rIns="54864" tIns="54864" bIns="54864" anchor="t">
            <a:spAutoFit/>
          </a:bodyPr>
          <a:lstStyle/>
          <a:p>
            <a:pPr algn="l"/>
            <a:r>
              <a:rPr sz="1600" b="0">
                <a:solidFill>
                  <a:srgbClr val="23322D"/>
                </a:solidFill>
                <a:latin typeface="Aptos"/>
              </a:rPr>
              <a:t>Inventory and Billing
Can create sales and purchases, but cannot manage users or master data.</a:t>
            </a:r>
          </a:p>
        </p:txBody>
      </p:sp>
      <p:sp>
        <p:nvSpPr>
          <p:cNvPr id="15" name="Rounded Rectangle 14"/>
          <p:cNvSpPr/>
          <p:nvPr/>
        </p:nvSpPr>
        <p:spPr>
          <a:xfrm>
            <a:off x="3749039" y="5440680"/>
            <a:ext cx="4480560" cy="566928"/>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895344" y="5550408"/>
            <a:ext cx="4187952" cy="347472"/>
          </a:xfrm>
          <a:prstGeom prst="rect">
            <a:avLst/>
          </a:prstGeom>
          <a:noFill/>
        </p:spPr>
        <p:txBody>
          <a:bodyPr wrap="square" lIns="54864" rIns="54864" tIns="54864" bIns="54864" anchor="t">
            <a:spAutoFit/>
          </a:bodyPr>
          <a:lstStyle/>
          <a:p>
            <a:pPr algn="l"/>
            <a:r>
              <a:rPr sz="1200" b="0">
                <a:solidFill>
                  <a:srgbClr val="FFFFFF"/>
                </a:solidFill>
                <a:latin typeface="Consolas"/>
              </a:rPr>
              <a:t>@app.post('/api/users')
@require_auth({'admin'})</a:t>
            </a:r>
          </a:p>
        </p:txBody>
      </p:sp>
      <p:sp>
        <p:nvSpPr>
          <p:cNvPr id="17" name="Rounded Rectangle 16"/>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The frontend hides controls for staff, and the backend independently rejects unauthorized requests with HTTP 403.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API CLIENT</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How the frontend talks to Flask</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09</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85800" y="1691640"/>
            <a:ext cx="5486400" cy="2560320"/>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1801368"/>
            <a:ext cx="5193792" cy="2340863"/>
          </a:xfrm>
          <a:prstGeom prst="rect">
            <a:avLst/>
          </a:prstGeom>
          <a:noFill/>
        </p:spPr>
        <p:txBody>
          <a:bodyPr wrap="square" lIns="54864" rIns="54864" tIns="54864" bIns="54864" anchor="t">
            <a:spAutoFit/>
          </a:bodyPr>
          <a:lstStyle/>
          <a:p>
            <a:pPr algn="l"/>
            <a:r>
              <a:rPr sz="1300" b="0">
                <a:solidFill>
                  <a:srgbClr val="FFFFFF"/>
                </a:solidFill>
                <a:latin typeface="Consolas"/>
              </a:rPr>
              <a:t>function apiFetch(path, options = {}) {
  const token = localStorage.getItem('grocery_token')
  const headers = { ... }
  if (token) headers.Authorization = `Bearer ${token}`
  return fetch(`${API}${path}`, { ...options, headers })
}</a:t>
            </a:r>
          </a:p>
        </p:txBody>
      </p:sp>
      <p:sp>
        <p:nvSpPr>
          <p:cNvPr id="9" name="Rounded Rectangle 8"/>
          <p:cNvSpPr/>
          <p:nvPr/>
        </p:nvSpPr>
        <p:spPr>
          <a:xfrm>
            <a:off x="6629400" y="1737360"/>
            <a:ext cx="4480560" cy="3246120"/>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2057400"/>
            <a:ext cx="3749039" cy="320040"/>
          </a:xfrm>
          <a:prstGeom prst="rect">
            <a:avLst/>
          </a:prstGeom>
          <a:noFill/>
        </p:spPr>
        <p:txBody>
          <a:bodyPr wrap="square" lIns="54864" rIns="54864" tIns="54864" bIns="54864" anchor="t">
            <a:spAutoFit/>
          </a:bodyPr>
          <a:lstStyle/>
          <a:p>
            <a:pPr algn="l"/>
            <a:r>
              <a:rPr sz="1900" b="1">
                <a:solidFill>
                  <a:srgbClr val="267354"/>
                </a:solidFill>
                <a:latin typeface="Consolas"/>
              </a:rPr>
              <a:t>apiJson(path, options)</a:t>
            </a:r>
          </a:p>
        </p:txBody>
      </p:sp>
      <p:sp>
        <p:nvSpPr>
          <p:cNvPr id="11" name="TextBox 10"/>
          <p:cNvSpPr txBox="1"/>
          <p:nvPr/>
        </p:nvSpPr>
        <p:spPr>
          <a:xfrm>
            <a:off x="6995160" y="2651760"/>
            <a:ext cx="3566160" cy="1645920"/>
          </a:xfrm>
          <a:prstGeom prst="rect">
            <a:avLst/>
          </a:prstGeom>
          <a:noFill/>
        </p:spPr>
        <p:txBody>
          <a:bodyPr wrap="square" lIns="54864" rIns="54864" tIns="54864" bIns="54864" anchor="t">
            <a:spAutoFit/>
          </a:bodyPr>
          <a:lstStyle/>
          <a:p>
            <a:pPr algn="l"/>
            <a:r>
              <a:rPr sz="1700" b="0">
                <a:solidFill>
                  <a:srgbClr val="23322D"/>
                </a:solidFill>
                <a:latin typeface="Aptos"/>
              </a:rPr>
              <a:t>1. Calls apiFetch()
2. Parses JSON
3. Checks response.ok
4. Throws data.error on failure
5. Returns usable data</a:t>
            </a:r>
          </a:p>
        </p:txBody>
      </p:sp>
      <p:sp>
        <p:nvSpPr>
          <p:cNvPr id="12" name="TextBox 11"/>
          <p:cNvSpPr txBox="1"/>
          <p:nvPr/>
        </p:nvSpPr>
        <p:spPr>
          <a:xfrm>
            <a:off x="914400" y="4800600"/>
            <a:ext cx="4846320" cy="320040"/>
          </a:xfrm>
          <a:prstGeom prst="rect">
            <a:avLst/>
          </a:prstGeom>
          <a:noFill/>
        </p:spPr>
        <p:txBody>
          <a:bodyPr wrap="square" lIns="54864" rIns="54864" tIns="54864" bIns="54864" anchor="t">
            <a:spAutoFit/>
          </a:bodyPr>
          <a:lstStyle/>
          <a:p>
            <a:pPr algn="l"/>
            <a:r>
              <a:rPr sz="1500" b="1">
                <a:solidFill>
                  <a:srgbClr val="43779D"/>
                </a:solidFill>
                <a:latin typeface="Consolas"/>
              </a:rPr>
              <a:t>API base URL: http://localhost:5000/api</a:t>
            </a:r>
          </a:p>
        </p:txBody>
      </p:sp>
      <p:sp>
        <p:nvSpPr>
          <p:cNvPr id="13" name="Rounded Rectangle 12"/>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Centralizing requests keeps authentication headers and error handling consistent across every feature.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DATA LOADING</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Dashboard loading and refresh behavior</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10</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85800" y="1874519"/>
            <a:ext cx="1783080" cy="987552"/>
          </a:xfrm>
          <a:prstGeom prst="roundRect">
            <a:avLst/>
          </a:prstGeom>
          <a:solidFill>
            <a:srgbClr val="E5F0F8"/>
          </a:solidFill>
          <a:ln w="10160">
            <a:solidFill>
              <a:srgbClr val="E5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112264"/>
            <a:ext cx="1691640" cy="438912"/>
          </a:xfrm>
          <a:prstGeom prst="rect">
            <a:avLst/>
          </a:prstGeom>
          <a:noFill/>
        </p:spPr>
        <p:txBody>
          <a:bodyPr wrap="square" lIns="54864" rIns="54864" tIns="54864" bIns="54864" anchor="ctr">
            <a:spAutoFit/>
          </a:bodyPr>
          <a:lstStyle/>
          <a:p>
            <a:pPr algn="ctr"/>
            <a:r>
              <a:rPr sz="1400" b="1">
                <a:solidFill>
                  <a:srgbClr val="43779D"/>
                </a:solidFill>
                <a:latin typeface="Aptos"/>
              </a:rPr>
              <a:t>loadData()</a:t>
            </a:r>
          </a:p>
        </p:txBody>
      </p:sp>
      <p:cxnSp>
        <p:nvCxnSpPr>
          <p:cNvPr id="9" name="Connector 8"/>
          <p:cNvCxnSpPr/>
          <p:nvPr/>
        </p:nvCxnSpPr>
        <p:spPr>
          <a:xfrm>
            <a:off x="2468880" y="2368296"/>
            <a:ext cx="411480" cy="0"/>
          </a:xfrm>
          <a:prstGeom prst="line">
            <a:avLst/>
          </a:prstGeom>
          <a:ln w="19050">
            <a:solidFill>
              <a:srgbClr val="67776E"/>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26080" y="1874519"/>
            <a:ext cx="1783080" cy="987552"/>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971800" y="2112264"/>
            <a:ext cx="1691640" cy="438912"/>
          </a:xfrm>
          <a:prstGeom prst="rect">
            <a:avLst/>
          </a:prstGeom>
          <a:noFill/>
        </p:spPr>
        <p:txBody>
          <a:bodyPr wrap="square" lIns="54864" rIns="54864" tIns="54864" bIns="54864" anchor="ctr">
            <a:spAutoFit/>
          </a:bodyPr>
          <a:lstStyle/>
          <a:p>
            <a:pPr algn="ctr"/>
            <a:r>
              <a:rPr sz="1400" b="1">
                <a:solidFill>
                  <a:srgbClr val="267354"/>
                </a:solidFill>
                <a:latin typeface="Aptos"/>
              </a:rPr>
              <a:t>Promise.allSettled()</a:t>
            </a:r>
          </a:p>
        </p:txBody>
      </p:sp>
      <p:cxnSp>
        <p:nvCxnSpPr>
          <p:cNvPr id="12" name="Connector 11"/>
          <p:cNvCxnSpPr/>
          <p:nvPr/>
        </p:nvCxnSpPr>
        <p:spPr>
          <a:xfrm>
            <a:off x="4709160" y="2368296"/>
            <a:ext cx="411480" cy="0"/>
          </a:xfrm>
          <a:prstGeom prst="line">
            <a:avLst/>
          </a:prstGeom>
          <a:ln w="19050">
            <a:solidFill>
              <a:srgbClr val="67776E"/>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166360" y="1874519"/>
            <a:ext cx="1783080" cy="987552"/>
          </a:xfrm>
          <a:prstGeom prst="roundRect">
            <a:avLst/>
          </a:prstGeom>
          <a:solidFill>
            <a:srgbClr val="FFF5DA"/>
          </a:solidFill>
          <a:ln w="10160">
            <a:solidFill>
              <a:srgbClr val="FFF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2112264"/>
            <a:ext cx="1691640" cy="438912"/>
          </a:xfrm>
          <a:prstGeom prst="rect">
            <a:avLst/>
          </a:prstGeom>
          <a:noFill/>
        </p:spPr>
        <p:txBody>
          <a:bodyPr wrap="square" lIns="54864" rIns="54864" tIns="54864" bIns="54864" anchor="ctr">
            <a:spAutoFit/>
          </a:bodyPr>
          <a:lstStyle/>
          <a:p>
            <a:pPr algn="ctr"/>
            <a:r>
              <a:rPr sz="1400" b="1">
                <a:solidFill>
                  <a:srgbClr val="D29B27"/>
                </a:solidFill>
                <a:latin typeface="Aptos"/>
              </a:rPr>
              <a:t>summary + records</a:t>
            </a:r>
          </a:p>
        </p:txBody>
      </p:sp>
      <p:cxnSp>
        <p:nvCxnSpPr>
          <p:cNvPr id="15" name="Connector 14"/>
          <p:cNvCxnSpPr/>
          <p:nvPr/>
        </p:nvCxnSpPr>
        <p:spPr>
          <a:xfrm>
            <a:off x="6949440" y="2368296"/>
            <a:ext cx="411480" cy="0"/>
          </a:xfrm>
          <a:prstGeom prst="line">
            <a:avLst/>
          </a:prstGeom>
          <a:ln w="19050">
            <a:solidFill>
              <a:srgbClr val="67776E"/>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406640" y="1874519"/>
            <a:ext cx="1783080" cy="987552"/>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52360" y="2112264"/>
            <a:ext cx="1691640" cy="438912"/>
          </a:xfrm>
          <a:prstGeom prst="rect">
            <a:avLst/>
          </a:prstGeom>
          <a:noFill/>
        </p:spPr>
        <p:txBody>
          <a:bodyPr wrap="square" lIns="54864" rIns="54864" tIns="54864" bIns="54864" anchor="ctr">
            <a:spAutoFit/>
          </a:bodyPr>
          <a:lstStyle/>
          <a:p>
            <a:pPr algn="ctr"/>
            <a:r>
              <a:rPr sz="1400" b="1">
                <a:solidFill>
                  <a:srgbClr val="267354"/>
                </a:solidFill>
                <a:latin typeface="Aptos"/>
              </a:rPr>
              <a:t>state updated</a:t>
            </a:r>
          </a:p>
        </p:txBody>
      </p:sp>
      <p:cxnSp>
        <p:nvCxnSpPr>
          <p:cNvPr id="18" name="Connector 17"/>
          <p:cNvCxnSpPr/>
          <p:nvPr/>
        </p:nvCxnSpPr>
        <p:spPr>
          <a:xfrm>
            <a:off x="9189720" y="2368296"/>
            <a:ext cx="411480" cy="0"/>
          </a:xfrm>
          <a:prstGeom prst="line">
            <a:avLst/>
          </a:prstGeom>
          <a:ln w="19050">
            <a:solidFill>
              <a:srgbClr val="67776E"/>
            </a:solidFill>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9646920" y="1874519"/>
            <a:ext cx="1783080" cy="987552"/>
          </a:xfrm>
          <a:prstGeom prst="roundRect">
            <a:avLst/>
          </a:prstGeom>
          <a:solidFill>
            <a:srgbClr val="E5F0F8"/>
          </a:solidFill>
          <a:ln w="10160">
            <a:solidFill>
              <a:srgbClr val="E5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92640" y="2112264"/>
            <a:ext cx="1691640" cy="438912"/>
          </a:xfrm>
          <a:prstGeom prst="rect">
            <a:avLst/>
          </a:prstGeom>
          <a:noFill/>
        </p:spPr>
        <p:txBody>
          <a:bodyPr wrap="square" lIns="54864" rIns="54864" tIns="54864" bIns="54864" anchor="ctr">
            <a:spAutoFit/>
          </a:bodyPr>
          <a:lstStyle/>
          <a:p>
            <a:pPr algn="ctr"/>
            <a:r>
              <a:rPr sz="1400" b="1">
                <a:solidFill>
                  <a:srgbClr val="43779D"/>
                </a:solidFill>
                <a:latin typeface="Aptos"/>
              </a:rPr>
              <a:t>render()</a:t>
            </a:r>
          </a:p>
        </p:txBody>
      </p:sp>
      <p:sp>
        <p:nvSpPr>
          <p:cNvPr id="21" name="Rounded Rectangle 20"/>
          <p:cNvSpPr/>
          <p:nvPr/>
        </p:nvSpPr>
        <p:spPr>
          <a:xfrm>
            <a:off x="914400" y="3886200"/>
            <a:ext cx="5669280" cy="1325880"/>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60704" y="3995928"/>
            <a:ext cx="5376672" cy="1106424"/>
          </a:xfrm>
          <a:prstGeom prst="rect">
            <a:avLst/>
          </a:prstGeom>
          <a:noFill/>
        </p:spPr>
        <p:txBody>
          <a:bodyPr wrap="square" lIns="54864" rIns="54864" tIns="54864" bIns="54864" anchor="t">
            <a:spAutoFit/>
          </a:bodyPr>
          <a:lstStyle/>
          <a:p>
            <a:pPr algn="l"/>
            <a:r>
              <a:rPr sz="1200" b="0">
                <a:solidFill>
                  <a:srgbClr val="FFFFFF"/>
                </a:solidFill>
                <a:latin typeface="Consolas"/>
              </a:rPr>
              <a:t>const calls = [
  apiJson('/summary'), apiJson('/products'),
  apiJson('/suppliers'), apiJson('/purchases'),
  admin ? apiJson('/sales') : Promise.resolve([]),
  admin ? apiJson('/users') : Promise.resolve([])
]</a:t>
            </a:r>
          </a:p>
        </p:txBody>
      </p:sp>
      <p:sp>
        <p:nvSpPr>
          <p:cNvPr id="23" name="Rounded Rectangle 22"/>
          <p:cNvSpPr/>
          <p:nvPr/>
        </p:nvSpPr>
        <p:spPr>
          <a:xfrm>
            <a:off x="6995160" y="3886200"/>
            <a:ext cx="4251960" cy="1417320"/>
          </a:xfrm>
          <a:prstGeom prst="roundRect">
            <a:avLst/>
          </a:prstGeom>
          <a:solidFill>
            <a:srgbClr val="E2F2E8"/>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59752" y="4014215"/>
            <a:ext cx="3922776" cy="1161288"/>
          </a:xfrm>
          <a:prstGeom prst="rect">
            <a:avLst/>
          </a:prstGeom>
          <a:noFill/>
        </p:spPr>
        <p:txBody>
          <a:bodyPr wrap="square" lIns="0" rIns="0" tIns="0" bIns="0">
            <a:spAutoFit/>
          </a:bodyPr>
          <a:lstStyle/>
          <a:p>
            <a:pPr>
              <a:spcAft>
                <a:spcPts val="800"/>
              </a:spcAft>
              <a:defRPr sz="1400">
                <a:solidFill>
                  <a:srgbClr val="23322D"/>
                </a:solidFill>
                <a:latin typeface="Aptos"/>
              </a:defRPr>
            </a:pPr>
            <a:r>
              <a:t>loading-bar appears while requests are active</a:t>
            </a:r>
          </a:p>
          <a:p>
            <a:pPr>
              <a:spcAft>
                <a:spcPts val="800"/>
              </a:spcAft>
              <a:defRPr sz="1400">
                <a:solidFill>
                  <a:srgbClr val="23322D"/>
                </a:solidFill>
                <a:latin typeface="Aptos"/>
              </a:defRPr>
            </a:pPr>
            <a:r>
              <a:t>Promise.allSettled prevents one failed call from stopping every view</a:t>
            </a:r>
          </a:p>
          <a:p>
            <a:pPr>
              <a:spcAft>
                <a:spcPts val="800"/>
              </a:spcAft>
              <a:defRPr sz="1400">
                <a:solidFill>
                  <a:srgbClr val="23322D"/>
                </a:solidFill>
                <a:latin typeface="Aptos"/>
              </a:defRPr>
            </a:pPr>
            <a:r>
              <a:t>successful records replace old state before the next render</a:t>
            </a:r>
          </a:p>
        </p:txBody>
      </p:sp>
      <p:sp>
        <p:nvSpPr>
          <p:cNvPr id="25" name="Rounded Rectangle 24"/>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After adding a product, purchase, sale, or user, the frontend calls loadData() again to refresh the interface.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USER WORKFLOW</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Why adding a user works only for admin</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11</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594360" y="1737360"/>
            <a:ext cx="3246120" cy="1170432"/>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58952" y="1920240"/>
            <a:ext cx="2880360" cy="274320"/>
          </a:xfrm>
          <a:prstGeom prst="rect">
            <a:avLst/>
          </a:prstGeom>
          <a:noFill/>
        </p:spPr>
        <p:txBody>
          <a:bodyPr wrap="square" lIns="54864" rIns="54864" tIns="54864" bIns="54864" anchor="t">
            <a:spAutoFit/>
          </a:bodyPr>
          <a:lstStyle/>
          <a:p>
            <a:pPr algn="l"/>
            <a:r>
              <a:rPr sz="1500" b="1">
                <a:solidFill>
                  <a:srgbClr val="267354"/>
                </a:solidFill>
                <a:latin typeface="Aptos"/>
              </a:rPr>
              <a:t>Sign in as nishi</a:t>
            </a:r>
          </a:p>
        </p:txBody>
      </p:sp>
      <p:sp>
        <p:nvSpPr>
          <p:cNvPr id="9" name="TextBox 8"/>
          <p:cNvSpPr txBox="1"/>
          <p:nvPr/>
        </p:nvSpPr>
        <p:spPr>
          <a:xfrm>
            <a:off x="758952" y="2331720"/>
            <a:ext cx="2880360" cy="256032"/>
          </a:xfrm>
          <a:prstGeom prst="rect">
            <a:avLst/>
          </a:prstGeom>
          <a:noFill/>
        </p:spPr>
        <p:txBody>
          <a:bodyPr wrap="square" lIns="54864" rIns="54864" tIns="54864" bIns="54864" anchor="t">
            <a:spAutoFit/>
          </a:bodyPr>
          <a:lstStyle/>
          <a:p>
            <a:pPr algn="l"/>
            <a:r>
              <a:rPr sz="1400" b="0">
                <a:solidFill>
                  <a:srgbClr val="23322D"/>
                </a:solidFill>
                <a:latin typeface="Consolas"/>
              </a:rPr>
              <a:t>role = admin</a:t>
            </a:r>
          </a:p>
        </p:txBody>
      </p:sp>
      <p:cxnSp>
        <p:nvCxnSpPr>
          <p:cNvPr id="10" name="Connector 9"/>
          <p:cNvCxnSpPr/>
          <p:nvPr/>
        </p:nvCxnSpPr>
        <p:spPr>
          <a:xfrm>
            <a:off x="3840480" y="2322576"/>
            <a:ext cx="457200" cy="0"/>
          </a:xfrm>
          <a:prstGeom prst="line">
            <a:avLst/>
          </a:prstGeom>
          <a:ln w="16510">
            <a:solidFill>
              <a:srgbClr val="67776E"/>
            </a:solidFill>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389120" y="1737360"/>
            <a:ext cx="3246120" cy="1170432"/>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53712" y="1920240"/>
            <a:ext cx="2880360" cy="274320"/>
          </a:xfrm>
          <a:prstGeom prst="rect">
            <a:avLst/>
          </a:prstGeom>
          <a:noFill/>
        </p:spPr>
        <p:txBody>
          <a:bodyPr wrap="square" lIns="54864" rIns="54864" tIns="54864" bIns="54864" anchor="t">
            <a:spAutoFit/>
          </a:bodyPr>
          <a:lstStyle/>
          <a:p>
            <a:pPr algn="l"/>
            <a:r>
              <a:rPr sz="1500" b="1">
                <a:solidFill>
                  <a:srgbClr val="267354"/>
                </a:solidFill>
                <a:latin typeface="Aptos"/>
              </a:rPr>
              <a:t>Open Users</a:t>
            </a:r>
          </a:p>
        </p:txBody>
      </p:sp>
      <p:sp>
        <p:nvSpPr>
          <p:cNvPr id="13" name="TextBox 12"/>
          <p:cNvSpPr txBox="1"/>
          <p:nvPr/>
        </p:nvSpPr>
        <p:spPr>
          <a:xfrm>
            <a:off x="4553712" y="2331720"/>
            <a:ext cx="2880360" cy="256032"/>
          </a:xfrm>
          <a:prstGeom prst="rect">
            <a:avLst/>
          </a:prstGeom>
          <a:noFill/>
        </p:spPr>
        <p:txBody>
          <a:bodyPr wrap="square" lIns="54864" rIns="54864" tIns="54864" bIns="54864" anchor="t">
            <a:spAutoFit/>
          </a:bodyPr>
          <a:lstStyle/>
          <a:p>
            <a:pPr algn="l"/>
            <a:r>
              <a:rPr sz="1400" b="0">
                <a:solidFill>
                  <a:srgbClr val="23322D"/>
                </a:solidFill>
                <a:latin typeface="Consolas"/>
              </a:rPr>
              <a:t>Users navigation is visible</a:t>
            </a:r>
          </a:p>
        </p:txBody>
      </p:sp>
      <p:cxnSp>
        <p:nvCxnSpPr>
          <p:cNvPr id="14" name="Connector 13"/>
          <p:cNvCxnSpPr/>
          <p:nvPr/>
        </p:nvCxnSpPr>
        <p:spPr>
          <a:xfrm>
            <a:off x="7635240" y="2322576"/>
            <a:ext cx="457200" cy="0"/>
          </a:xfrm>
          <a:prstGeom prst="line">
            <a:avLst/>
          </a:prstGeom>
          <a:ln w="16510">
            <a:solidFill>
              <a:srgbClr val="67776E"/>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183880" y="1737360"/>
            <a:ext cx="3246120" cy="1170432"/>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48472" y="1920240"/>
            <a:ext cx="2880360" cy="274320"/>
          </a:xfrm>
          <a:prstGeom prst="rect">
            <a:avLst/>
          </a:prstGeom>
          <a:noFill/>
        </p:spPr>
        <p:txBody>
          <a:bodyPr wrap="square" lIns="54864" rIns="54864" tIns="54864" bIns="54864" anchor="t">
            <a:spAutoFit/>
          </a:bodyPr>
          <a:lstStyle/>
          <a:p>
            <a:pPr algn="l"/>
            <a:r>
              <a:rPr sz="1500" b="1">
                <a:solidFill>
                  <a:srgbClr val="267354"/>
                </a:solidFill>
                <a:latin typeface="Aptos"/>
              </a:rPr>
              <a:t>Click Add user</a:t>
            </a:r>
          </a:p>
        </p:txBody>
      </p:sp>
      <p:sp>
        <p:nvSpPr>
          <p:cNvPr id="17" name="TextBox 16"/>
          <p:cNvSpPr txBox="1"/>
          <p:nvPr/>
        </p:nvSpPr>
        <p:spPr>
          <a:xfrm>
            <a:off x="8348472" y="2331720"/>
            <a:ext cx="2880360" cy="256032"/>
          </a:xfrm>
          <a:prstGeom prst="rect">
            <a:avLst/>
          </a:prstGeom>
          <a:noFill/>
        </p:spPr>
        <p:txBody>
          <a:bodyPr wrap="square" lIns="54864" rIns="54864" tIns="54864" bIns="54864" anchor="t">
            <a:spAutoFit/>
          </a:bodyPr>
          <a:lstStyle/>
          <a:p>
            <a:pPr algn="l"/>
            <a:r>
              <a:rPr sz="1400" b="0">
                <a:solidFill>
                  <a:srgbClr val="23322D"/>
                </a:solidFill>
                <a:latin typeface="Consolas"/>
              </a:rPr>
              <a:t>state.modal = user</a:t>
            </a:r>
          </a:p>
        </p:txBody>
      </p:sp>
      <p:sp>
        <p:nvSpPr>
          <p:cNvPr id="18" name="Rounded Rectangle 17"/>
          <p:cNvSpPr/>
          <p:nvPr/>
        </p:nvSpPr>
        <p:spPr>
          <a:xfrm>
            <a:off x="594360" y="3657600"/>
            <a:ext cx="3246120" cy="1170432"/>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58952" y="3840480"/>
            <a:ext cx="2880360" cy="274320"/>
          </a:xfrm>
          <a:prstGeom prst="rect">
            <a:avLst/>
          </a:prstGeom>
          <a:noFill/>
        </p:spPr>
        <p:txBody>
          <a:bodyPr wrap="square" lIns="54864" rIns="54864" tIns="54864" bIns="54864" anchor="t">
            <a:spAutoFit/>
          </a:bodyPr>
          <a:lstStyle/>
          <a:p>
            <a:pPr algn="l"/>
            <a:r>
              <a:rPr sz="1500" b="1">
                <a:solidFill>
                  <a:srgbClr val="267354"/>
                </a:solidFill>
                <a:latin typeface="Aptos"/>
              </a:rPr>
              <a:t>Submit form</a:t>
            </a:r>
          </a:p>
        </p:txBody>
      </p:sp>
      <p:sp>
        <p:nvSpPr>
          <p:cNvPr id="20" name="TextBox 19"/>
          <p:cNvSpPr txBox="1"/>
          <p:nvPr/>
        </p:nvSpPr>
        <p:spPr>
          <a:xfrm>
            <a:off x="758952" y="4251960"/>
            <a:ext cx="2880360" cy="256032"/>
          </a:xfrm>
          <a:prstGeom prst="rect">
            <a:avLst/>
          </a:prstGeom>
          <a:noFill/>
        </p:spPr>
        <p:txBody>
          <a:bodyPr wrap="square" lIns="54864" rIns="54864" tIns="54864" bIns="54864" anchor="t">
            <a:spAutoFit/>
          </a:bodyPr>
          <a:lstStyle/>
          <a:p>
            <a:pPr algn="l"/>
            <a:r>
              <a:rPr sz="1400" b="0">
                <a:solidFill>
                  <a:srgbClr val="23322D"/>
                </a:solidFill>
                <a:latin typeface="Consolas"/>
              </a:rPr>
              <a:t>POST /api/users</a:t>
            </a:r>
          </a:p>
        </p:txBody>
      </p:sp>
      <p:cxnSp>
        <p:nvCxnSpPr>
          <p:cNvPr id="21" name="Connector 20"/>
          <p:cNvCxnSpPr/>
          <p:nvPr/>
        </p:nvCxnSpPr>
        <p:spPr>
          <a:xfrm>
            <a:off x="3840480" y="4242816"/>
            <a:ext cx="457200" cy="0"/>
          </a:xfrm>
          <a:prstGeom prst="line">
            <a:avLst/>
          </a:prstGeom>
          <a:ln w="16510">
            <a:solidFill>
              <a:srgbClr val="67776E"/>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4389120" y="3657600"/>
            <a:ext cx="3246120" cy="1170432"/>
          </a:xfrm>
          <a:prstGeom prst="roundRect">
            <a:avLst/>
          </a:prstGeom>
          <a:solidFill>
            <a:srgbClr val="FFF5DA"/>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53712" y="3840480"/>
            <a:ext cx="2880360" cy="274320"/>
          </a:xfrm>
          <a:prstGeom prst="rect">
            <a:avLst/>
          </a:prstGeom>
          <a:noFill/>
        </p:spPr>
        <p:txBody>
          <a:bodyPr wrap="square" lIns="54864" rIns="54864" tIns="54864" bIns="54864" anchor="t">
            <a:spAutoFit/>
          </a:bodyPr>
          <a:lstStyle/>
          <a:p>
            <a:pPr algn="l"/>
            <a:r>
              <a:rPr sz="1500" b="1">
                <a:solidFill>
                  <a:srgbClr val="267354"/>
                </a:solidFill>
                <a:latin typeface="Aptos"/>
              </a:rPr>
              <a:t>Backend checks role</a:t>
            </a:r>
          </a:p>
        </p:txBody>
      </p:sp>
      <p:sp>
        <p:nvSpPr>
          <p:cNvPr id="24" name="TextBox 23"/>
          <p:cNvSpPr txBox="1"/>
          <p:nvPr/>
        </p:nvSpPr>
        <p:spPr>
          <a:xfrm>
            <a:off x="4553712" y="4251960"/>
            <a:ext cx="2880360" cy="256032"/>
          </a:xfrm>
          <a:prstGeom prst="rect">
            <a:avLst/>
          </a:prstGeom>
          <a:noFill/>
        </p:spPr>
        <p:txBody>
          <a:bodyPr wrap="square" lIns="54864" rIns="54864" tIns="54864" bIns="54864" anchor="t">
            <a:spAutoFit/>
          </a:bodyPr>
          <a:lstStyle/>
          <a:p>
            <a:pPr algn="l"/>
            <a:r>
              <a:rPr sz="1400" b="0">
                <a:solidFill>
                  <a:srgbClr val="23322D"/>
                </a:solidFill>
                <a:latin typeface="Consolas"/>
              </a:rPr>
              <a:t>admin accepted</a:t>
            </a:r>
          </a:p>
        </p:txBody>
      </p:sp>
      <p:sp>
        <p:nvSpPr>
          <p:cNvPr id="25" name="Rounded Rectangle 24"/>
          <p:cNvSpPr/>
          <p:nvPr/>
        </p:nvSpPr>
        <p:spPr>
          <a:xfrm>
            <a:off x="8183880" y="3657600"/>
            <a:ext cx="3246120" cy="1170432"/>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48472" y="3840480"/>
            <a:ext cx="2880360" cy="274320"/>
          </a:xfrm>
          <a:prstGeom prst="rect">
            <a:avLst/>
          </a:prstGeom>
          <a:noFill/>
        </p:spPr>
        <p:txBody>
          <a:bodyPr wrap="square" lIns="54864" rIns="54864" tIns="54864" bIns="54864" anchor="t">
            <a:spAutoFit/>
          </a:bodyPr>
          <a:lstStyle/>
          <a:p>
            <a:pPr algn="l"/>
            <a:r>
              <a:rPr sz="1500" b="1">
                <a:solidFill>
                  <a:srgbClr val="267354"/>
                </a:solidFill>
                <a:latin typeface="Aptos"/>
              </a:rPr>
              <a:t>Refresh list</a:t>
            </a:r>
          </a:p>
        </p:txBody>
      </p:sp>
      <p:sp>
        <p:nvSpPr>
          <p:cNvPr id="27" name="TextBox 26"/>
          <p:cNvSpPr txBox="1"/>
          <p:nvPr/>
        </p:nvSpPr>
        <p:spPr>
          <a:xfrm>
            <a:off x="8348472" y="4251960"/>
            <a:ext cx="2880360" cy="256032"/>
          </a:xfrm>
          <a:prstGeom prst="rect">
            <a:avLst/>
          </a:prstGeom>
          <a:noFill/>
        </p:spPr>
        <p:txBody>
          <a:bodyPr wrap="square" lIns="54864" rIns="54864" tIns="54864" bIns="54864" anchor="t">
            <a:spAutoFit/>
          </a:bodyPr>
          <a:lstStyle/>
          <a:p>
            <a:pPr algn="l"/>
            <a:r>
              <a:rPr sz="1400" b="0">
                <a:solidFill>
                  <a:srgbClr val="23322D"/>
                </a:solidFill>
                <a:latin typeface="Consolas"/>
              </a:rPr>
              <a:t>loadData()</a:t>
            </a:r>
          </a:p>
        </p:txBody>
      </p:sp>
      <p:sp>
        <p:nvSpPr>
          <p:cNvPr id="28" name="Rounded Rectangle 27"/>
          <p:cNvSpPr/>
          <p:nvPr/>
        </p:nvSpPr>
        <p:spPr>
          <a:xfrm>
            <a:off x="3657600" y="5486400"/>
            <a:ext cx="4800600" cy="566928"/>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03904" y="5596128"/>
            <a:ext cx="4507992" cy="347472"/>
          </a:xfrm>
          <a:prstGeom prst="rect">
            <a:avLst/>
          </a:prstGeom>
          <a:noFill/>
        </p:spPr>
        <p:txBody>
          <a:bodyPr wrap="square" lIns="54864" rIns="54864" tIns="54864" bIns="54864" anchor="t">
            <a:spAutoFit/>
          </a:bodyPr>
          <a:lstStyle/>
          <a:p>
            <a:pPr algn="l"/>
            <a:r>
              <a:rPr sz="1100" b="0">
                <a:solidFill>
                  <a:srgbClr val="FFFFFF"/>
                </a:solidFill>
                <a:latin typeface="Consolas"/>
              </a:rPr>
              <a:t>const routes = { user: '/users' }
await apiJson(routes.user, {
  method: 'POST', body: JSON.stringify(data)
})</a:t>
            </a:r>
          </a:p>
        </p:txBody>
      </p:sp>
      <p:sp>
        <p:nvSpPr>
          <p:cNvPr id="30" name="Rounded Rectangle 29"/>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A staff login cannot add users by design: the API returns 403 Admin access required.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BUSINESS WORKFLOWS</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Inventory, purchases, billing, and reports</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12</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40080" y="1828800"/>
            <a:ext cx="2468880" cy="2240280"/>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2103120"/>
            <a:ext cx="2121408" cy="320040"/>
          </a:xfrm>
          <a:prstGeom prst="rect">
            <a:avLst/>
          </a:prstGeom>
          <a:noFill/>
        </p:spPr>
        <p:txBody>
          <a:bodyPr wrap="square" lIns="54864" rIns="54864" tIns="54864" bIns="54864" anchor="t">
            <a:spAutoFit/>
          </a:bodyPr>
          <a:lstStyle/>
          <a:p>
            <a:pPr algn="ctr"/>
            <a:r>
              <a:rPr sz="2000" b="1">
                <a:solidFill>
                  <a:srgbClr val="267354"/>
                </a:solidFill>
                <a:latin typeface="Aptos"/>
              </a:rPr>
              <a:t>Inventory</a:t>
            </a:r>
          </a:p>
        </p:txBody>
      </p:sp>
      <p:sp>
        <p:nvSpPr>
          <p:cNvPr id="9" name="TextBox 8"/>
          <p:cNvSpPr txBox="1"/>
          <p:nvPr/>
        </p:nvSpPr>
        <p:spPr>
          <a:xfrm>
            <a:off x="868680" y="2743200"/>
            <a:ext cx="2011680" cy="914400"/>
          </a:xfrm>
          <a:prstGeom prst="rect">
            <a:avLst/>
          </a:prstGeom>
          <a:noFill/>
        </p:spPr>
        <p:txBody>
          <a:bodyPr wrap="square" lIns="54864" rIns="54864" tIns="54864" bIns="54864" anchor="t">
            <a:spAutoFit/>
          </a:bodyPr>
          <a:lstStyle/>
          <a:p>
            <a:pPr algn="ctr"/>
            <a:r>
              <a:rPr sz="1600" b="0">
                <a:solidFill>
                  <a:srgbClr val="23322D"/>
                </a:solidFill>
                <a:latin typeface="Aptos"/>
              </a:rPr>
              <a:t>GET /products
Low-stock check
Quantity + price</a:t>
            </a:r>
          </a:p>
        </p:txBody>
      </p:sp>
      <p:sp>
        <p:nvSpPr>
          <p:cNvPr id="10" name="Rounded Rectangle 9"/>
          <p:cNvSpPr/>
          <p:nvPr/>
        </p:nvSpPr>
        <p:spPr>
          <a:xfrm>
            <a:off x="3474720" y="1828800"/>
            <a:ext cx="2468880" cy="2240280"/>
          </a:xfrm>
          <a:prstGeom prst="roundRect">
            <a:avLst/>
          </a:prstGeom>
          <a:solidFill>
            <a:srgbClr val="FFF5DA"/>
          </a:solidFill>
          <a:ln w="10160">
            <a:solidFill>
              <a:srgbClr val="FFF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39312" y="2103120"/>
            <a:ext cx="2121408" cy="320040"/>
          </a:xfrm>
          <a:prstGeom prst="rect">
            <a:avLst/>
          </a:prstGeom>
          <a:noFill/>
        </p:spPr>
        <p:txBody>
          <a:bodyPr wrap="square" lIns="54864" rIns="54864" tIns="54864" bIns="54864" anchor="t">
            <a:spAutoFit/>
          </a:bodyPr>
          <a:lstStyle/>
          <a:p>
            <a:pPr algn="ctr"/>
            <a:r>
              <a:rPr sz="2000" b="1">
                <a:solidFill>
                  <a:srgbClr val="D29B27"/>
                </a:solidFill>
                <a:latin typeface="Aptos"/>
              </a:rPr>
              <a:t>Purchase</a:t>
            </a:r>
          </a:p>
        </p:txBody>
      </p:sp>
      <p:sp>
        <p:nvSpPr>
          <p:cNvPr id="12" name="TextBox 11"/>
          <p:cNvSpPr txBox="1"/>
          <p:nvPr/>
        </p:nvSpPr>
        <p:spPr>
          <a:xfrm>
            <a:off x="3703320" y="2743200"/>
            <a:ext cx="2011680" cy="914400"/>
          </a:xfrm>
          <a:prstGeom prst="rect">
            <a:avLst/>
          </a:prstGeom>
          <a:noFill/>
        </p:spPr>
        <p:txBody>
          <a:bodyPr wrap="square" lIns="54864" rIns="54864" tIns="54864" bIns="54864" anchor="t">
            <a:spAutoFit/>
          </a:bodyPr>
          <a:lstStyle/>
          <a:p>
            <a:pPr algn="ctr"/>
            <a:r>
              <a:rPr sz="1600" b="0">
                <a:solidFill>
                  <a:srgbClr val="23322D"/>
                </a:solidFill>
                <a:latin typeface="Aptos"/>
              </a:rPr>
              <a:t>POST /purchases
Increase stock
Record supplier</a:t>
            </a:r>
          </a:p>
        </p:txBody>
      </p:sp>
      <p:sp>
        <p:nvSpPr>
          <p:cNvPr id="13" name="Rounded Rectangle 12"/>
          <p:cNvSpPr/>
          <p:nvPr/>
        </p:nvSpPr>
        <p:spPr>
          <a:xfrm>
            <a:off x="6309360" y="1828800"/>
            <a:ext cx="2468880" cy="2240280"/>
          </a:xfrm>
          <a:prstGeom prst="roundRect">
            <a:avLst/>
          </a:prstGeom>
          <a:solidFill>
            <a:srgbClr val="E5F0F8"/>
          </a:solidFill>
          <a:ln w="10160">
            <a:solidFill>
              <a:srgbClr val="E5F0F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73952" y="2103120"/>
            <a:ext cx="2121408" cy="320040"/>
          </a:xfrm>
          <a:prstGeom prst="rect">
            <a:avLst/>
          </a:prstGeom>
          <a:noFill/>
        </p:spPr>
        <p:txBody>
          <a:bodyPr wrap="square" lIns="54864" rIns="54864" tIns="54864" bIns="54864" anchor="t">
            <a:spAutoFit/>
          </a:bodyPr>
          <a:lstStyle/>
          <a:p>
            <a:pPr algn="ctr"/>
            <a:r>
              <a:rPr sz="2000" b="1">
                <a:solidFill>
                  <a:srgbClr val="43779D"/>
                </a:solidFill>
                <a:latin typeface="Aptos"/>
              </a:rPr>
              <a:t>Billing</a:t>
            </a:r>
          </a:p>
        </p:txBody>
      </p:sp>
      <p:sp>
        <p:nvSpPr>
          <p:cNvPr id="15" name="TextBox 14"/>
          <p:cNvSpPr txBox="1"/>
          <p:nvPr/>
        </p:nvSpPr>
        <p:spPr>
          <a:xfrm>
            <a:off x="6537960" y="2743200"/>
            <a:ext cx="2011680" cy="914400"/>
          </a:xfrm>
          <a:prstGeom prst="rect">
            <a:avLst/>
          </a:prstGeom>
          <a:noFill/>
        </p:spPr>
        <p:txBody>
          <a:bodyPr wrap="square" lIns="54864" rIns="54864" tIns="54864" bIns="54864" anchor="t">
            <a:spAutoFit/>
          </a:bodyPr>
          <a:lstStyle/>
          <a:p>
            <a:pPr algn="ctr"/>
            <a:r>
              <a:rPr sz="1600" b="0">
                <a:solidFill>
                  <a:srgbClr val="23322D"/>
                </a:solidFill>
                <a:latin typeface="Aptos"/>
              </a:rPr>
              <a:t>POST /sales
Decrease stock
Create invoice</a:t>
            </a:r>
          </a:p>
        </p:txBody>
      </p:sp>
      <p:sp>
        <p:nvSpPr>
          <p:cNvPr id="16" name="Rounded Rectangle 15"/>
          <p:cNvSpPr/>
          <p:nvPr/>
        </p:nvSpPr>
        <p:spPr>
          <a:xfrm>
            <a:off x="9144000" y="1828800"/>
            <a:ext cx="2468880" cy="2240280"/>
          </a:xfrm>
          <a:prstGeom prst="roundRect">
            <a:avLst/>
          </a:prstGeom>
          <a:solidFill>
            <a:srgbClr val="FCE9E5"/>
          </a:solidFill>
          <a:ln w="10160">
            <a:solidFill>
              <a:srgbClr val="FCE9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308592" y="2103120"/>
            <a:ext cx="2121408" cy="320040"/>
          </a:xfrm>
          <a:prstGeom prst="rect">
            <a:avLst/>
          </a:prstGeom>
          <a:noFill/>
        </p:spPr>
        <p:txBody>
          <a:bodyPr wrap="square" lIns="54864" rIns="54864" tIns="54864" bIns="54864" anchor="t">
            <a:spAutoFit/>
          </a:bodyPr>
          <a:lstStyle/>
          <a:p>
            <a:pPr algn="ctr"/>
            <a:r>
              <a:rPr sz="2000" b="1">
                <a:solidFill>
                  <a:srgbClr val="C6584D"/>
                </a:solidFill>
                <a:latin typeface="Aptos"/>
              </a:rPr>
              <a:t>Reports</a:t>
            </a:r>
          </a:p>
        </p:txBody>
      </p:sp>
      <p:sp>
        <p:nvSpPr>
          <p:cNvPr id="18" name="TextBox 17"/>
          <p:cNvSpPr txBox="1"/>
          <p:nvPr/>
        </p:nvSpPr>
        <p:spPr>
          <a:xfrm>
            <a:off x="9372600" y="2743200"/>
            <a:ext cx="2011680" cy="914400"/>
          </a:xfrm>
          <a:prstGeom prst="rect">
            <a:avLst/>
          </a:prstGeom>
          <a:noFill/>
        </p:spPr>
        <p:txBody>
          <a:bodyPr wrap="square" lIns="54864" rIns="54864" tIns="54864" bIns="54864" anchor="t">
            <a:spAutoFit/>
          </a:bodyPr>
          <a:lstStyle/>
          <a:p>
            <a:pPr algn="ctr"/>
            <a:r>
              <a:rPr sz="1600" b="0">
                <a:solidFill>
                  <a:srgbClr val="23322D"/>
                </a:solidFill>
                <a:latin typeface="Aptos"/>
              </a:rPr>
              <a:t>GET /summary
Sales - purchases
Stock health</a:t>
            </a:r>
          </a:p>
        </p:txBody>
      </p:sp>
      <p:cxnSp>
        <p:nvCxnSpPr>
          <p:cNvPr id="19" name="Connector 18"/>
          <p:cNvCxnSpPr/>
          <p:nvPr/>
        </p:nvCxnSpPr>
        <p:spPr>
          <a:xfrm>
            <a:off x="3090672" y="4617720"/>
            <a:ext cx="6007608" cy="0"/>
          </a:xfrm>
          <a:prstGeom prst="line">
            <a:avLst/>
          </a:prstGeom>
          <a:ln w="25400">
            <a:solidFill>
              <a:srgbClr val="267354"/>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097280" y="4892040"/>
            <a:ext cx="9875520" cy="475488"/>
          </a:xfrm>
          <a:prstGeom prst="rect">
            <a:avLst/>
          </a:prstGeom>
          <a:noFill/>
        </p:spPr>
        <p:txBody>
          <a:bodyPr wrap="square" lIns="54864" rIns="54864" tIns="54864" bIns="54864" anchor="t">
            <a:spAutoFit/>
          </a:bodyPr>
          <a:lstStyle/>
          <a:p>
            <a:pPr algn="ctr"/>
            <a:r>
              <a:rPr sz="1700" b="1">
                <a:solidFill>
                  <a:srgbClr val="23322D"/>
                </a:solidFill>
                <a:latin typeface="Aptos"/>
              </a:rPr>
              <a:t>Products are the shared record: purchases raise quantity; sales lower quantity; reports summarize both.</a:t>
            </a:r>
          </a:p>
        </p:txBody>
      </p:sp>
      <p:sp>
        <p:nvSpPr>
          <p:cNvPr id="21" name="Rounded Rectangle 20"/>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The frontend collects input; Flask applies stock changes and validates the transaction.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BACKEND</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What Flask is responsible for</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13</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40080" y="1691640"/>
            <a:ext cx="5577840" cy="3977639"/>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1819656"/>
            <a:ext cx="5248655" cy="3721607"/>
          </a:xfrm>
          <a:prstGeom prst="rect">
            <a:avLst/>
          </a:prstGeom>
          <a:noFill/>
        </p:spPr>
        <p:txBody>
          <a:bodyPr wrap="square" lIns="0" rIns="0" tIns="0" bIns="0">
            <a:spAutoFit/>
          </a:bodyPr>
          <a:lstStyle/>
          <a:p>
            <a:pPr>
              <a:spcAft>
                <a:spcPts val="800"/>
              </a:spcAft>
              <a:defRPr sz="1600">
                <a:solidFill>
                  <a:srgbClr val="23322D"/>
                </a:solidFill>
                <a:latin typeface="Aptos"/>
              </a:defRPr>
            </a:pPr>
            <a:r>
              <a:t>Authentication: validates credentials and creates active bearer tokens.</a:t>
            </a:r>
          </a:p>
          <a:p>
            <a:pPr>
              <a:spcAft>
                <a:spcPts val="800"/>
              </a:spcAft>
              <a:defRPr sz="1600">
                <a:solidFill>
                  <a:srgbClr val="23322D"/>
                </a:solidFill>
                <a:latin typeface="Aptos"/>
              </a:defRPr>
            </a:pPr>
            <a:r>
              <a:t>Authorization: require_auth() checks token and allowed role.</a:t>
            </a:r>
          </a:p>
          <a:p>
            <a:pPr>
              <a:spcAft>
                <a:spcPts val="800"/>
              </a:spcAft>
              <a:defRPr sz="1600">
                <a:solidFill>
                  <a:srgbClr val="23322D"/>
                </a:solidFill>
                <a:latin typeface="Aptos"/>
              </a:defRPr>
            </a:pPr>
            <a:r>
              <a:t>Validation: required fields, duplicate usernames, product and supplier existence.</a:t>
            </a:r>
          </a:p>
          <a:p>
            <a:pPr>
              <a:spcAft>
                <a:spcPts val="800"/>
              </a:spcAft>
              <a:defRPr sz="1600">
                <a:solidFill>
                  <a:srgbClr val="23322D"/>
                </a:solidFill>
                <a:latin typeface="Aptos"/>
              </a:defRPr>
            </a:pPr>
            <a:r>
              <a:t>Business rules: stock cannot go below zero; at least one admin must remain.</a:t>
            </a:r>
          </a:p>
          <a:p>
            <a:pPr>
              <a:spcAft>
                <a:spcPts val="800"/>
              </a:spcAft>
              <a:defRPr sz="1600">
                <a:solidFill>
                  <a:srgbClr val="23322D"/>
                </a:solidFill>
                <a:latin typeface="Aptos"/>
              </a:defRPr>
            </a:pPr>
            <a:r>
              <a:t>Responses: JSON data plus meaningful HTTP status codes such as 201, 400, 401, 403, 404, and 409.</a:t>
            </a:r>
          </a:p>
        </p:txBody>
      </p:sp>
      <p:sp>
        <p:nvSpPr>
          <p:cNvPr id="9" name="Rounded Rectangle 8"/>
          <p:cNvSpPr/>
          <p:nvPr/>
        </p:nvSpPr>
        <p:spPr>
          <a:xfrm>
            <a:off x="6629400" y="1783080"/>
            <a:ext cx="4343400" cy="3566160"/>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2057400"/>
            <a:ext cx="3703320" cy="274320"/>
          </a:xfrm>
          <a:prstGeom prst="rect">
            <a:avLst/>
          </a:prstGeom>
          <a:noFill/>
        </p:spPr>
        <p:txBody>
          <a:bodyPr wrap="square" lIns="54864" rIns="54864" tIns="54864" bIns="54864" anchor="t">
            <a:spAutoFit/>
          </a:bodyPr>
          <a:lstStyle/>
          <a:p>
            <a:pPr algn="l"/>
            <a:r>
              <a:rPr sz="1800" b="1">
                <a:solidFill>
                  <a:srgbClr val="8FD2AA"/>
                </a:solidFill>
                <a:latin typeface="Aptos"/>
              </a:rPr>
              <a:t>REST endpoint families</a:t>
            </a:r>
          </a:p>
        </p:txBody>
      </p:sp>
      <p:sp>
        <p:nvSpPr>
          <p:cNvPr id="11" name="TextBox 10"/>
          <p:cNvSpPr txBox="1"/>
          <p:nvPr/>
        </p:nvSpPr>
        <p:spPr>
          <a:xfrm>
            <a:off x="6949440" y="2606040"/>
            <a:ext cx="3566160" cy="2148840"/>
          </a:xfrm>
          <a:prstGeom prst="rect">
            <a:avLst/>
          </a:prstGeom>
          <a:noFill/>
        </p:spPr>
        <p:txBody>
          <a:bodyPr wrap="square" lIns="54864" rIns="54864" tIns="54864" bIns="54864" anchor="t">
            <a:spAutoFit/>
          </a:bodyPr>
          <a:lstStyle/>
          <a:p>
            <a:pPr algn="l"/>
            <a:r>
              <a:rPr sz="1700" b="0">
                <a:solidFill>
                  <a:srgbClr val="FFFFFF"/>
                </a:solidFill>
                <a:latin typeface="Consolas"/>
              </a:rPr>
              <a:t>/auth/login
/auth/me
/users
/summary
/products
/sales
/suppliers
/purchases
/categories</a:t>
            </a:r>
          </a:p>
        </p:txBody>
      </p:sp>
      <p:sp>
        <p:nvSpPr>
          <p:cNvPr id="12" name="Rounded Rectangle 11"/>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Business rules belong in the backend because frontend visibility is not a security boundary.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STYLING</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How the visual interface is organized</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14</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40080" y="1673352"/>
            <a:ext cx="5486400" cy="3931920"/>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1801368"/>
            <a:ext cx="5157216" cy="3675887"/>
          </a:xfrm>
          <a:prstGeom prst="rect">
            <a:avLst/>
          </a:prstGeom>
          <a:noFill/>
        </p:spPr>
        <p:txBody>
          <a:bodyPr wrap="square" lIns="0" rIns="0" tIns="0" bIns="0">
            <a:spAutoFit/>
          </a:bodyPr>
          <a:lstStyle/>
          <a:p>
            <a:pPr>
              <a:spcAft>
                <a:spcPts val="800"/>
              </a:spcAft>
              <a:defRPr sz="1600">
                <a:solidFill>
                  <a:srgbClr val="23322D"/>
                </a:solidFill>
                <a:latin typeface="Aptos"/>
              </a:defRPr>
            </a:pPr>
            <a:r>
              <a:t>CSS variables define ink, muted text, borders, green, yellow, red, and blue tones.</a:t>
            </a:r>
          </a:p>
          <a:p>
            <a:pPr>
              <a:spcAft>
                <a:spcPts val="800"/>
              </a:spcAft>
              <a:defRPr sz="1600">
                <a:solidFill>
                  <a:srgbClr val="23322D"/>
                </a:solidFill>
                <a:latin typeface="Aptos"/>
              </a:defRPr>
            </a:pPr>
            <a:r>
              <a:t>The app shell uses a fixed sidebar and scrollable main content.</a:t>
            </a:r>
          </a:p>
          <a:p>
            <a:pPr>
              <a:spcAft>
                <a:spcPts val="800"/>
              </a:spcAft>
              <a:defRPr sz="1600">
                <a:solidFill>
                  <a:srgbClr val="23322D"/>
                </a:solidFill>
                <a:latin typeface="Aptos"/>
              </a:defRPr>
            </a:pPr>
            <a:r>
              <a:t>Reusable visual classes cover panels, buttons, tables, metrics, alerts, forms, and modals.</a:t>
            </a:r>
          </a:p>
          <a:p>
            <a:pPr>
              <a:spcAft>
                <a:spcPts val="800"/>
              </a:spcAft>
              <a:defRPr sz="1600">
                <a:solidFill>
                  <a:srgbClr val="23322D"/>
                </a:solidFill>
                <a:latin typeface="Aptos"/>
              </a:defRPr>
            </a:pPr>
            <a:r>
              <a:t>DM Sans is used for body text; Manrope is used for headings and totals.</a:t>
            </a:r>
          </a:p>
          <a:p>
            <a:pPr>
              <a:spcAft>
                <a:spcPts val="800"/>
              </a:spcAft>
              <a:defRPr sz="1600">
                <a:solidFill>
                  <a:srgbClr val="23322D"/>
                </a:solidFill>
                <a:latin typeface="Aptos"/>
              </a:defRPr>
            </a:pPr>
            <a:r>
              <a:t>Media queries at 1050px and 700px adapt navigation, grids, forms, and reports.</a:t>
            </a:r>
          </a:p>
        </p:txBody>
      </p:sp>
      <p:sp>
        <p:nvSpPr>
          <p:cNvPr id="9" name="Rounded Rectangle 8"/>
          <p:cNvSpPr/>
          <p:nvPr/>
        </p:nvSpPr>
        <p:spPr>
          <a:xfrm>
            <a:off x="6629400" y="1828800"/>
            <a:ext cx="4434840" cy="3246120"/>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0" y="2103120"/>
            <a:ext cx="3749039" cy="320040"/>
          </a:xfrm>
          <a:prstGeom prst="rect">
            <a:avLst/>
          </a:prstGeom>
          <a:noFill/>
        </p:spPr>
        <p:txBody>
          <a:bodyPr wrap="square" lIns="54864" rIns="54864" tIns="54864" bIns="54864" anchor="t">
            <a:spAutoFit/>
          </a:bodyPr>
          <a:lstStyle/>
          <a:p>
            <a:pPr algn="l"/>
            <a:r>
              <a:rPr sz="1900" b="1">
                <a:solidFill>
                  <a:srgbClr val="267354"/>
                </a:solidFill>
                <a:latin typeface="Aptos"/>
              </a:rPr>
              <a:t>Responsive behavior</a:t>
            </a:r>
          </a:p>
        </p:txBody>
      </p:sp>
      <p:sp>
        <p:nvSpPr>
          <p:cNvPr id="11" name="TextBox 10"/>
          <p:cNvSpPr txBox="1"/>
          <p:nvPr/>
        </p:nvSpPr>
        <p:spPr>
          <a:xfrm>
            <a:off x="6949440" y="2651760"/>
            <a:ext cx="3566160" cy="1828800"/>
          </a:xfrm>
          <a:prstGeom prst="rect">
            <a:avLst/>
          </a:prstGeom>
          <a:noFill/>
        </p:spPr>
        <p:txBody>
          <a:bodyPr wrap="square" lIns="54864" rIns="54864" tIns="54864" bIns="54864" anchor="t">
            <a:spAutoFit/>
          </a:bodyPr>
          <a:lstStyle/>
          <a:p>
            <a:pPr algn="l"/>
            <a:r>
              <a:rPr sz="1700" b="0">
                <a:solidFill>
                  <a:srgbClr val="23322D"/>
                </a:solidFill>
                <a:latin typeface="Aptos"/>
              </a:rPr>
              <a:t>Desktop
Sidebar visible
Multi-column metrics
Mobile
Sidebar becomes menu
Cards stack or reduce columns
Buttons wrap</a:t>
            </a:r>
          </a:p>
        </p:txBody>
      </p:sp>
      <p:sp>
        <p:nvSpPr>
          <p:cNvPr id="12" name="Rounded Rectangle 11"/>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The interface is designed as an operations tool: scanable tables, direct actions, and low-stock emphasis.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RUN IT</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How to start the application locally</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15</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85800" y="1691640"/>
            <a:ext cx="5303520" cy="2423160"/>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1801368"/>
            <a:ext cx="5010912" cy="2203704"/>
          </a:xfrm>
          <a:prstGeom prst="rect">
            <a:avLst/>
          </a:prstGeom>
          <a:noFill/>
        </p:spPr>
        <p:txBody>
          <a:bodyPr wrap="square" lIns="54864" rIns="54864" tIns="54864" bIns="54864" anchor="t">
            <a:spAutoFit/>
          </a:bodyPr>
          <a:lstStyle/>
          <a:p>
            <a:pPr algn="l"/>
            <a:r>
              <a:rPr sz="1300" b="0">
                <a:solidFill>
                  <a:srgbClr val="FFFFFF"/>
                </a:solidFill>
                <a:latin typeface="Consolas"/>
              </a:rPr>
              <a:t># Terminal 1 - backend
cd backend
python -m venv .venv
.venv\Scripts\Activate.ps1
python -m pip install -r requirements.txt
python app.py</a:t>
            </a:r>
          </a:p>
        </p:txBody>
      </p:sp>
      <p:sp>
        <p:nvSpPr>
          <p:cNvPr id="9" name="Rounded Rectangle 8"/>
          <p:cNvSpPr/>
          <p:nvPr/>
        </p:nvSpPr>
        <p:spPr>
          <a:xfrm>
            <a:off x="6217920" y="1691640"/>
            <a:ext cx="4480560" cy="1508760"/>
          </a:xfrm>
          <a:prstGeom prst="roundRect">
            <a:avLst/>
          </a:prstGeom>
          <a:solidFill>
            <a:srgbClr val="1C2B25"/>
          </a:solidFill>
          <a:ln w="10160">
            <a:solidFill>
              <a:srgbClr val="1C2B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64224" y="1801368"/>
            <a:ext cx="4187952" cy="1289304"/>
          </a:xfrm>
          <a:prstGeom prst="rect">
            <a:avLst/>
          </a:prstGeom>
          <a:noFill/>
        </p:spPr>
        <p:txBody>
          <a:bodyPr wrap="square" lIns="54864" rIns="54864" tIns="54864" bIns="54864" anchor="t">
            <a:spAutoFit/>
          </a:bodyPr>
          <a:lstStyle/>
          <a:p>
            <a:pPr algn="l"/>
            <a:r>
              <a:rPr sz="1300" b="0">
                <a:solidFill>
                  <a:srgbClr val="FFFFFF"/>
                </a:solidFill>
                <a:latin typeface="Consolas"/>
              </a:rPr>
              <a:t># Terminal 2 - frontend
cd frontend
npm install
npm run dev</a:t>
            </a:r>
          </a:p>
        </p:txBody>
      </p:sp>
      <p:sp>
        <p:nvSpPr>
          <p:cNvPr id="11" name="Rounded Rectangle 10"/>
          <p:cNvSpPr/>
          <p:nvPr/>
        </p:nvSpPr>
        <p:spPr>
          <a:xfrm>
            <a:off x="822960" y="4617720"/>
            <a:ext cx="9875520" cy="713232"/>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51560" y="4828032"/>
            <a:ext cx="9418320" cy="256032"/>
          </a:xfrm>
          <a:prstGeom prst="rect">
            <a:avLst/>
          </a:prstGeom>
          <a:noFill/>
        </p:spPr>
        <p:txBody>
          <a:bodyPr wrap="square" lIns="54864" rIns="54864" tIns="54864" bIns="54864" anchor="t">
            <a:spAutoFit/>
          </a:bodyPr>
          <a:lstStyle/>
          <a:p>
            <a:pPr algn="ctr"/>
            <a:r>
              <a:rPr sz="1700" b="1">
                <a:solidFill>
                  <a:srgbClr val="267354"/>
                </a:solidFill>
                <a:latin typeface="Aptos"/>
              </a:rPr>
              <a:t>Backend: http://localhost:5000    Frontend: usually http://localhost:5173</a:t>
            </a:r>
          </a:p>
        </p:txBody>
      </p:sp>
      <p:sp>
        <p:nvSpPr>
          <p:cNvPr id="13" name="TextBox 12"/>
          <p:cNvSpPr txBox="1"/>
          <p:nvPr/>
        </p:nvSpPr>
        <p:spPr>
          <a:xfrm>
            <a:off x="2926080" y="5577840"/>
            <a:ext cx="5943600" cy="256032"/>
          </a:xfrm>
          <a:prstGeom prst="rect">
            <a:avLst/>
          </a:prstGeom>
          <a:noFill/>
        </p:spPr>
        <p:txBody>
          <a:bodyPr wrap="square" lIns="54864" rIns="54864" tIns="54864" bIns="54864" anchor="t">
            <a:spAutoFit/>
          </a:bodyPr>
          <a:lstStyle/>
          <a:p>
            <a:pPr algn="ctr"/>
            <a:r>
              <a:rPr sz="1500" b="1">
                <a:solidFill>
                  <a:srgbClr val="43779D"/>
                </a:solidFill>
                <a:latin typeface="Consolas"/>
              </a:rPr>
              <a:t>Health check: http://localhost:5000/api/health</a:t>
            </a:r>
          </a:p>
        </p:txBody>
      </p:sp>
      <p:sp>
        <p:nvSpPr>
          <p:cNvPr id="14" name="Rounded Rectangle 13"/>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Both processes must be running: the browser UI depends on the Flask API for login and data.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DEMO</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A complete demonstration sequence</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16</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731520" y="1664208"/>
            <a:ext cx="4892040" cy="658368"/>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59536" y="1783080"/>
            <a:ext cx="411480" cy="41148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1847088"/>
            <a:ext cx="411480" cy="201168"/>
          </a:xfrm>
          <a:prstGeom prst="rect">
            <a:avLst/>
          </a:prstGeom>
          <a:noFill/>
        </p:spPr>
        <p:txBody>
          <a:bodyPr wrap="square" lIns="54864" rIns="54864" tIns="54864" bIns="54864" anchor="t">
            <a:spAutoFit/>
          </a:bodyPr>
          <a:lstStyle/>
          <a:p>
            <a:pPr algn="ctr"/>
            <a:r>
              <a:rPr sz="1200" b="1">
                <a:solidFill>
                  <a:srgbClr val="FFFFFF"/>
                </a:solidFill>
                <a:latin typeface="Aptos"/>
              </a:rPr>
              <a:t>1</a:t>
            </a:r>
          </a:p>
        </p:txBody>
      </p:sp>
      <p:sp>
        <p:nvSpPr>
          <p:cNvPr id="10" name="TextBox 9"/>
          <p:cNvSpPr txBox="1"/>
          <p:nvPr/>
        </p:nvSpPr>
        <p:spPr>
          <a:xfrm>
            <a:off x="1444752" y="1847088"/>
            <a:ext cx="3977639" cy="256032"/>
          </a:xfrm>
          <a:prstGeom prst="rect">
            <a:avLst/>
          </a:prstGeom>
          <a:noFill/>
        </p:spPr>
        <p:txBody>
          <a:bodyPr wrap="square" lIns="54864" rIns="54864" tIns="54864" bIns="54864" anchor="t">
            <a:spAutoFit/>
          </a:bodyPr>
          <a:lstStyle/>
          <a:p>
            <a:pPr algn="l"/>
            <a:r>
              <a:rPr sz="1500" b="1">
                <a:solidFill>
                  <a:srgbClr val="23322D"/>
                </a:solidFill>
                <a:latin typeface="Aptos"/>
              </a:rPr>
              <a:t>Start Flask and Vite</a:t>
            </a:r>
          </a:p>
        </p:txBody>
      </p:sp>
      <p:sp>
        <p:nvSpPr>
          <p:cNvPr id="11" name="Rounded Rectangle 10"/>
          <p:cNvSpPr/>
          <p:nvPr/>
        </p:nvSpPr>
        <p:spPr>
          <a:xfrm>
            <a:off x="6217920" y="1664208"/>
            <a:ext cx="4892040" cy="658368"/>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6345936" y="1783080"/>
            <a:ext cx="411480" cy="41148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45936" y="1847088"/>
            <a:ext cx="411480" cy="201168"/>
          </a:xfrm>
          <a:prstGeom prst="rect">
            <a:avLst/>
          </a:prstGeom>
          <a:noFill/>
        </p:spPr>
        <p:txBody>
          <a:bodyPr wrap="square" lIns="54864" rIns="54864" tIns="54864" bIns="54864" anchor="t">
            <a:spAutoFit/>
          </a:bodyPr>
          <a:lstStyle/>
          <a:p>
            <a:pPr algn="ctr"/>
            <a:r>
              <a:rPr sz="1200" b="1">
                <a:solidFill>
                  <a:srgbClr val="FFFFFF"/>
                </a:solidFill>
                <a:latin typeface="Aptos"/>
              </a:rPr>
              <a:t>2</a:t>
            </a:r>
          </a:p>
        </p:txBody>
      </p:sp>
      <p:sp>
        <p:nvSpPr>
          <p:cNvPr id="14" name="TextBox 13"/>
          <p:cNvSpPr txBox="1"/>
          <p:nvPr/>
        </p:nvSpPr>
        <p:spPr>
          <a:xfrm>
            <a:off x="6931152" y="1847088"/>
            <a:ext cx="3977639" cy="256032"/>
          </a:xfrm>
          <a:prstGeom prst="rect">
            <a:avLst/>
          </a:prstGeom>
          <a:noFill/>
        </p:spPr>
        <p:txBody>
          <a:bodyPr wrap="square" lIns="54864" rIns="54864" tIns="54864" bIns="54864" anchor="t">
            <a:spAutoFit/>
          </a:bodyPr>
          <a:lstStyle/>
          <a:p>
            <a:pPr algn="l"/>
            <a:r>
              <a:rPr sz="1500" b="1">
                <a:solidFill>
                  <a:srgbClr val="23322D"/>
                </a:solidFill>
                <a:latin typeface="Aptos"/>
              </a:rPr>
              <a:t>Log in as nishi / admin</a:t>
            </a:r>
          </a:p>
        </p:txBody>
      </p:sp>
      <p:sp>
        <p:nvSpPr>
          <p:cNvPr id="15" name="Rounded Rectangle 14"/>
          <p:cNvSpPr/>
          <p:nvPr/>
        </p:nvSpPr>
        <p:spPr>
          <a:xfrm>
            <a:off x="731520" y="2651760"/>
            <a:ext cx="4892040" cy="658368"/>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59536" y="2770632"/>
            <a:ext cx="411480" cy="41148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9536" y="2834640"/>
            <a:ext cx="411480" cy="201168"/>
          </a:xfrm>
          <a:prstGeom prst="rect">
            <a:avLst/>
          </a:prstGeom>
          <a:noFill/>
        </p:spPr>
        <p:txBody>
          <a:bodyPr wrap="square" lIns="54864" rIns="54864" tIns="54864" bIns="54864" anchor="t">
            <a:spAutoFit/>
          </a:bodyPr>
          <a:lstStyle/>
          <a:p>
            <a:pPr algn="ctr"/>
            <a:r>
              <a:rPr sz="1200" b="1">
                <a:solidFill>
                  <a:srgbClr val="FFFFFF"/>
                </a:solidFill>
                <a:latin typeface="Aptos"/>
              </a:rPr>
              <a:t>3</a:t>
            </a:r>
          </a:p>
        </p:txBody>
      </p:sp>
      <p:sp>
        <p:nvSpPr>
          <p:cNvPr id="18" name="TextBox 17"/>
          <p:cNvSpPr txBox="1"/>
          <p:nvPr/>
        </p:nvSpPr>
        <p:spPr>
          <a:xfrm>
            <a:off x="1444752" y="2834640"/>
            <a:ext cx="3977639" cy="256032"/>
          </a:xfrm>
          <a:prstGeom prst="rect">
            <a:avLst/>
          </a:prstGeom>
          <a:noFill/>
        </p:spPr>
        <p:txBody>
          <a:bodyPr wrap="square" lIns="54864" rIns="54864" tIns="54864" bIns="54864" anchor="t">
            <a:spAutoFit/>
          </a:bodyPr>
          <a:lstStyle/>
          <a:p>
            <a:pPr algn="l"/>
            <a:r>
              <a:rPr sz="1500" b="1">
                <a:solidFill>
                  <a:srgbClr val="23322D"/>
                </a:solidFill>
                <a:latin typeface="Aptos"/>
              </a:rPr>
              <a:t>Open Users and add a staff account</a:t>
            </a:r>
          </a:p>
        </p:txBody>
      </p:sp>
      <p:sp>
        <p:nvSpPr>
          <p:cNvPr id="19" name="Rounded Rectangle 18"/>
          <p:cNvSpPr/>
          <p:nvPr/>
        </p:nvSpPr>
        <p:spPr>
          <a:xfrm>
            <a:off x="6217920" y="2651760"/>
            <a:ext cx="4892040" cy="658368"/>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345936" y="2770632"/>
            <a:ext cx="411480" cy="41148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45936" y="2834640"/>
            <a:ext cx="411480" cy="201168"/>
          </a:xfrm>
          <a:prstGeom prst="rect">
            <a:avLst/>
          </a:prstGeom>
          <a:noFill/>
        </p:spPr>
        <p:txBody>
          <a:bodyPr wrap="square" lIns="54864" rIns="54864" tIns="54864" bIns="54864" anchor="t">
            <a:spAutoFit/>
          </a:bodyPr>
          <a:lstStyle/>
          <a:p>
            <a:pPr algn="ctr"/>
            <a:r>
              <a:rPr sz="1200" b="1">
                <a:solidFill>
                  <a:srgbClr val="FFFFFF"/>
                </a:solidFill>
                <a:latin typeface="Aptos"/>
              </a:rPr>
              <a:t>4</a:t>
            </a:r>
          </a:p>
        </p:txBody>
      </p:sp>
      <p:sp>
        <p:nvSpPr>
          <p:cNvPr id="22" name="TextBox 21"/>
          <p:cNvSpPr txBox="1"/>
          <p:nvPr/>
        </p:nvSpPr>
        <p:spPr>
          <a:xfrm>
            <a:off x="6931152" y="2834640"/>
            <a:ext cx="3977639" cy="256032"/>
          </a:xfrm>
          <a:prstGeom prst="rect">
            <a:avLst/>
          </a:prstGeom>
          <a:noFill/>
        </p:spPr>
        <p:txBody>
          <a:bodyPr wrap="square" lIns="54864" rIns="54864" tIns="54864" bIns="54864" anchor="t">
            <a:spAutoFit/>
          </a:bodyPr>
          <a:lstStyle/>
          <a:p>
            <a:pPr algn="l"/>
            <a:r>
              <a:rPr sz="1500" b="1">
                <a:solidFill>
                  <a:srgbClr val="23322D"/>
                </a:solidFill>
                <a:latin typeface="Aptos"/>
              </a:rPr>
              <a:t>Add a supplier</a:t>
            </a:r>
          </a:p>
        </p:txBody>
      </p:sp>
      <p:sp>
        <p:nvSpPr>
          <p:cNvPr id="23" name="Rounded Rectangle 22"/>
          <p:cNvSpPr/>
          <p:nvPr/>
        </p:nvSpPr>
        <p:spPr>
          <a:xfrm>
            <a:off x="731520" y="3639312"/>
            <a:ext cx="4892040" cy="658368"/>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59536" y="3758184"/>
            <a:ext cx="411480" cy="41148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59536" y="3822192"/>
            <a:ext cx="411480" cy="201168"/>
          </a:xfrm>
          <a:prstGeom prst="rect">
            <a:avLst/>
          </a:prstGeom>
          <a:noFill/>
        </p:spPr>
        <p:txBody>
          <a:bodyPr wrap="square" lIns="54864" rIns="54864" tIns="54864" bIns="54864" anchor="t">
            <a:spAutoFit/>
          </a:bodyPr>
          <a:lstStyle/>
          <a:p>
            <a:pPr algn="ctr"/>
            <a:r>
              <a:rPr sz="1200" b="1">
                <a:solidFill>
                  <a:srgbClr val="FFFFFF"/>
                </a:solidFill>
                <a:latin typeface="Aptos"/>
              </a:rPr>
              <a:t>5</a:t>
            </a:r>
          </a:p>
        </p:txBody>
      </p:sp>
      <p:sp>
        <p:nvSpPr>
          <p:cNvPr id="26" name="TextBox 25"/>
          <p:cNvSpPr txBox="1"/>
          <p:nvPr/>
        </p:nvSpPr>
        <p:spPr>
          <a:xfrm>
            <a:off x="1444752" y="3822192"/>
            <a:ext cx="3977639" cy="256032"/>
          </a:xfrm>
          <a:prstGeom prst="rect">
            <a:avLst/>
          </a:prstGeom>
          <a:noFill/>
        </p:spPr>
        <p:txBody>
          <a:bodyPr wrap="square" lIns="54864" rIns="54864" tIns="54864" bIns="54864" anchor="t">
            <a:spAutoFit/>
          </a:bodyPr>
          <a:lstStyle/>
          <a:p>
            <a:pPr algn="l"/>
            <a:r>
              <a:rPr sz="1500" b="1">
                <a:solidFill>
                  <a:srgbClr val="23322D"/>
                </a:solidFill>
                <a:latin typeface="Aptos"/>
              </a:rPr>
              <a:t>Add a product with opening stock</a:t>
            </a:r>
          </a:p>
        </p:txBody>
      </p:sp>
      <p:sp>
        <p:nvSpPr>
          <p:cNvPr id="27" name="Rounded Rectangle 26"/>
          <p:cNvSpPr/>
          <p:nvPr/>
        </p:nvSpPr>
        <p:spPr>
          <a:xfrm>
            <a:off x="6217920" y="3639312"/>
            <a:ext cx="4892040" cy="658368"/>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6345936" y="3758184"/>
            <a:ext cx="411480" cy="41148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345936" y="3822192"/>
            <a:ext cx="411480" cy="201168"/>
          </a:xfrm>
          <a:prstGeom prst="rect">
            <a:avLst/>
          </a:prstGeom>
          <a:noFill/>
        </p:spPr>
        <p:txBody>
          <a:bodyPr wrap="square" lIns="54864" rIns="54864" tIns="54864" bIns="54864" anchor="t">
            <a:spAutoFit/>
          </a:bodyPr>
          <a:lstStyle/>
          <a:p>
            <a:pPr algn="ctr"/>
            <a:r>
              <a:rPr sz="1200" b="1">
                <a:solidFill>
                  <a:srgbClr val="FFFFFF"/>
                </a:solidFill>
                <a:latin typeface="Aptos"/>
              </a:rPr>
              <a:t>6</a:t>
            </a:r>
          </a:p>
        </p:txBody>
      </p:sp>
      <p:sp>
        <p:nvSpPr>
          <p:cNvPr id="30" name="TextBox 29"/>
          <p:cNvSpPr txBox="1"/>
          <p:nvPr/>
        </p:nvSpPr>
        <p:spPr>
          <a:xfrm>
            <a:off x="6931152" y="3822192"/>
            <a:ext cx="3977639" cy="256032"/>
          </a:xfrm>
          <a:prstGeom prst="rect">
            <a:avLst/>
          </a:prstGeom>
          <a:noFill/>
        </p:spPr>
        <p:txBody>
          <a:bodyPr wrap="square" lIns="54864" rIns="54864" tIns="54864" bIns="54864" anchor="t">
            <a:spAutoFit/>
          </a:bodyPr>
          <a:lstStyle/>
          <a:p>
            <a:pPr algn="l"/>
            <a:r>
              <a:rPr sz="1500" b="1">
                <a:solidFill>
                  <a:srgbClr val="23322D"/>
                </a:solidFill>
                <a:latin typeface="Aptos"/>
              </a:rPr>
              <a:t>Record a purchase</a:t>
            </a:r>
          </a:p>
        </p:txBody>
      </p:sp>
      <p:sp>
        <p:nvSpPr>
          <p:cNvPr id="31" name="Rounded Rectangle 30"/>
          <p:cNvSpPr/>
          <p:nvPr/>
        </p:nvSpPr>
        <p:spPr>
          <a:xfrm>
            <a:off x="731520" y="4626864"/>
            <a:ext cx="4892040" cy="658368"/>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859536" y="4745736"/>
            <a:ext cx="411480" cy="41148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59536" y="4809744"/>
            <a:ext cx="411480" cy="201168"/>
          </a:xfrm>
          <a:prstGeom prst="rect">
            <a:avLst/>
          </a:prstGeom>
          <a:noFill/>
        </p:spPr>
        <p:txBody>
          <a:bodyPr wrap="square" lIns="54864" rIns="54864" tIns="54864" bIns="54864" anchor="t">
            <a:spAutoFit/>
          </a:bodyPr>
          <a:lstStyle/>
          <a:p>
            <a:pPr algn="ctr"/>
            <a:r>
              <a:rPr sz="1200" b="1">
                <a:solidFill>
                  <a:srgbClr val="FFFFFF"/>
                </a:solidFill>
                <a:latin typeface="Aptos"/>
              </a:rPr>
              <a:t>7</a:t>
            </a:r>
          </a:p>
        </p:txBody>
      </p:sp>
      <p:sp>
        <p:nvSpPr>
          <p:cNvPr id="34" name="TextBox 33"/>
          <p:cNvSpPr txBox="1"/>
          <p:nvPr/>
        </p:nvSpPr>
        <p:spPr>
          <a:xfrm>
            <a:off x="1444752" y="4809744"/>
            <a:ext cx="3977639" cy="256032"/>
          </a:xfrm>
          <a:prstGeom prst="rect">
            <a:avLst/>
          </a:prstGeom>
          <a:noFill/>
        </p:spPr>
        <p:txBody>
          <a:bodyPr wrap="square" lIns="54864" rIns="54864" tIns="54864" bIns="54864" anchor="t">
            <a:spAutoFit/>
          </a:bodyPr>
          <a:lstStyle/>
          <a:p>
            <a:pPr algn="l"/>
            <a:r>
              <a:rPr sz="1500" b="1">
                <a:solidFill>
                  <a:srgbClr val="23322D"/>
                </a:solidFill>
                <a:latin typeface="Aptos"/>
              </a:rPr>
              <a:t>Create a customer bill</a:t>
            </a:r>
          </a:p>
        </p:txBody>
      </p:sp>
      <p:sp>
        <p:nvSpPr>
          <p:cNvPr id="35" name="Rounded Rectangle 34"/>
          <p:cNvSpPr/>
          <p:nvPr/>
        </p:nvSpPr>
        <p:spPr>
          <a:xfrm>
            <a:off x="6217920" y="4626864"/>
            <a:ext cx="4892040" cy="658368"/>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6345936" y="4745736"/>
            <a:ext cx="411480" cy="411480"/>
          </a:xfrm>
          <a:prstGeom prst="roundRect">
            <a:avLst/>
          </a:prstGeom>
          <a:solidFill>
            <a:srgbClr val="267354"/>
          </a:solidFill>
          <a:ln w="10160">
            <a:solidFill>
              <a:srgbClr val="26735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345936" y="4809744"/>
            <a:ext cx="411480" cy="201168"/>
          </a:xfrm>
          <a:prstGeom prst="rect">
            <a:avLst/>
          </a:prstGeom>
          <a:noFill/>
        </p:spPr>
        <p:txBody>
          <a:bodyPr wrap="square" lIns="54864" rIns="54864" tIns="54864" bIns="54864" anchor="t">
            <a:spAutoFit/>
          </a:bodyPr>
          <a:lstStyle/>
          <a:p>
            <a:pPr algn="ctr"/>
            <a:r>
              <a:rPr sz="1200" b="1">
                <a:solidFill>
                  <a:srgbClr val="FFFFFF"/>
                </a:solidFill>
                <a:latin typeface="Aptos"/>
              </a:rPr>
              <a:t>8</a:t>
            </a:r>
          </a:p>
        </p:txBody>
      </p:sp>
      <p:sp>
        <p:nvSpPr>
          <p:cNvPr id="38" name="TextBox 37"/>
          <p:cNvSpPr txBox="1"/>
          <p:nvPr/>
        </p:nvSpPr>
        <p:spPr>
          <a:xfrm>
            <a:off x="6931152" y="4809744"/>
            <a:ext cx="3977639" cy="256032"/>
          </a:xfrm>
          <a:prstGeom prst="rect">
            <a:avLst/>
          </a:prstGeom>
          <a:noFill/>
        </p:spPr>
        <p:txBody>
          <a:bodyPr wrap="square" lIns="54864" rIns="54864" tIns="54864" bIns="54864" anchor="t">
            <a:spAutoFit/>
          </a:bodyPr>
          <a:lstStyle/>
          <a:p>
            <a:pPr algn="l"/>
            <a:r>
              <a:rPr sz="1500" b="1">
                <a:solidFill>
                  <a:srgbClr val="23322D"/>
                </a:solidFill>
                <a:latin typeface="Aptos"/>
              </a:rPr>
              <a:t>Open Reports and export history</a:t>
            </a:r>
          </a:p>
        </p:txBody>
      </p:sp>
      <p:sp>
        <p:nvSpPr>
          <p:cNvPr id="39" name="Rounded Rectangle 38"/>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This sequence proves the important state changes: users, stock increases, stock decreases, invoices, and reports.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6"/>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CURRENT LIMITS</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Important development notes</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17</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Rounded Rectangle 6"/>
          <p:cNvSpPr/>
          <p:nvPr/>
        </p:nvSpPr>
        <p:spPr>
          <a:xfrm>
            <a:off x="640080" y="1691640"/>
            <a:ext cx="5623560" cy="4069080"/>
          </a:xfrm>
          <a:prstGeom prst="roundRect">
            <a:avLst/>
          </a:prstGeom>
          <a:solidFill>
            <a:srgbClr val="FFFFFF"/>
          </a:solidFill>
          <a:ln w="10160">
            <a:solidFill>
              <a:srgbClr val="E1EA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1" y="1819656"/>
            <a:ext cx="5294376" cy="3813048"/>
          </a:xfrm>
          <a:prstGeom prst="rect">
            <a:avLst/>
          </a:prstGeom>
          <a:noFill/>
        </p:spPr>
        <p:txBody>
          <a:bodyPr wrap="square" lIns="0" rIns="0" tIns="0" bIns="0">
            <a:spAutoFit/>
          </a:bodyPr>
          <a:lstStyle/>
          <a:p>
            <a:pPr>
              <a:spcAft>
                <a:spcPts val="800"/>
              </a:spcAft>
              <a:defRPr sz="1600">
                <a:solidFill>
                  <a:srgbClr val="23322D"/>
                </a:solidFill>
                <a:latin typeface="Aptos"/>
              </a:defRPr>
            </a:pPr>
            <a:r>
              <a:t>Storage is in memory: restarting Flask removes products, suppliers, purchases, sales, and newly created users.</a:t>
            </a:r>
          </a:p>
          <a:p>
            <a:pPr>
              <a:spcAft>
                <a:spcPts val="800"/>
              </a:spcAft>
              <a:defRPr sz="1600">
                <a:solidFill>
                  <a:srgbClr val="23322D"/>
                </a:solidFill>
                <a:latin typeface="Aptos"/>
              </a:defRPr>
            </a:pPr>
            <a:r>
              <a:t>database/seed_data.json is reference data only and is not loaded at startup.</a:t>
            </a:r>
          </a:p>
          <a:p>
            <a:pPr>
              <a:spcAft>
                <a:spcPts val="800"/>
              </a:spcAft>
              <a:defRPr sz="1600">
                <a:solidFill>
                  <a:srgbClr val="23322D"/>
                </a:solidFill>
                <a:latin typeface="Aptos"/>
              </a:defRPr>
            </a:pPr>
            <a:r>
              <a:t>The CSV download is minimal: it serializes object values and does not add robust quoting or column headers.</a:t>
            </a:r>
          </a:p>
          <a:p>
            <a:pPr>
              <a:spcAft>
                <a:spcPts val="800"/>
              </a:spcAft>
              <a:defRPr sz="1600">
                <a:solidFill>
                  <a:srgbClr val="23322D"/>
                </a:solidFill>
                <a:latin typeface="Aptos"/>
              </a:defRPr>
            </a:pPr>
            <a:r>
              <a:t>The API URL is hard-coded to localhost:5000, so deployment needs environment-based configuration.</a:t>
            </a:r>
          </a:p>
          <a:p>
            <a:pPr>
              <a:spcAft>
                <a:spcPts val="800"/>
              </a:spcAft>
              <a:defRPr sz="1600">
                <a:solidFill>
                  <a:srgbClr val="23322D"/>
                </a:solidFill>
                <a:latin typeface="Aptos"/>
              </a:defRPr>
            </a:pPr>
            <a:r>
              <a:t>The README account table is out of sync with the actual code: code uses liki and aliya as staff accounts.</a:t>
            </a:r>
          </a:p>
        </p:txBody>
      </p:sp>
      <p:sp>
        <p:nvSpPr>
          <p:cNvPr id="9" name="Rounded Rectangle 8"/>
          <p:cNvSpPr/>
          <p:nvPr/>
        </p:nvSpPr>
        <p:spPr>
          <a:xfrm>
            <a:off x="6720840" y="1783080"/>
            <a:ext cx="4251960" cy="3566160"/>
          </a:xfrm>
          <a:prstGeom prst="roundRect">
            <a:avLst/>
          </a:prstGeom>
          <a:solidFill>
            <a:srgbClr val="FFF5DA"/>
          </a:solidFill>
          <a:ln w="10160">
            <a:solidFill>
              <a:srgbClr val="FFF5D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40880" y="2084831"/>
            <a:ext cx="3611880" cy="320040"/>
          </a:xfrm>
          <a:prstGeom prst="rect">
            <a:avLst/>
          </a:prstGeom>
          <a:noFill/>
        </p:spPr>
        <p:txBody>
          <a:bodyPr wrap="square" lIns="54864" rIns="54864" tIns="54864" bIns="54864" anchor="t">
            <a:spAutoFit/>
          </a:bodyPr>
          <a:lstStyle/>
          <a:p>
            <a:pPr algn="l"/>
            <a:r>
              <a:rPr sz="1900" b="1">
                <a:solidFill>
                  <a:srgbClr val="D29B27"/>
                </a:solidFill>
                <a:latin typeface="Aptos"/>
              </a:rPr>
              <a:t>Recommended next steps</a:t>
            </a:r>
          </a:p>
        </p:txBody>
      </p:sp>
      <p:sp>
        <p:nvSpPr>
          <p:cNvPr id="11" name="TextBox 10"/>
          <p:cNvSpPr txBox="1"/>
          <p:nvPr/>
        </p:nvSpPr>
        <p:spPr>
          <a:xfrm>
            <a:off x="7040880" y="2651760"/>
            <a:ext cx="3429000" cy="2057400"/>
          </a:xfrm>
          <a:prstGeom prst="rect">
            <a:avLst/>
          </a:prstGeom>
          <a:noFill/>
        </p:spPr>
        <p:txBody>
          <a:bodyPr wrap="square" lIns="54864" rIns="54864" tIns="54864" bIns="54864" anchor="t">
            <a:spAutoFit/>
          </a:bodyPr>
          <a:lstStyle/>
          <a:p>
            <a:pPr algn="l"/>
            <a:r>
              <a:rPr sz="1600" b="0">
                <a:solidFill>
                  <a:srgbClr val="23322D"/>
                </a:solidFill>
                <a:latin typeface="Aptos"/>
              </a:rPr>
              <a:t>1. Add MySQL repository layer
2. Move API URL to environment config
3. Add automated API and UI tests
4. Improve CSV generation
5. Align README and demo accounts
6. Add production token/session strategy</a:t>
            </a:r>
          </a:p>
        </p:txBody>
      </p:sp>
      <p:sp>
        <p:nvSpPr>
          <p:cNvPr id="12" name="Rounded Rectangle 11"/>
          <p:cNvSpPr/>
          <p:nvPr/>
        </p:nvSpPr>
        <p:spPr>
          <a:xfrm>
            <a:off x="530352" y="5989320"/>
            <a:ext cx="11109960" cy="384048"/>
          </a:xfrm>
          <a:prstGeom prst="roundRect">
            <a:avLst/>
          </a:prstGeom>
          <a:solidFill>
            <a:srgbClr val="E2F2E8"/>
          </a:solidFill>
          <a:ln w="10160">
            <a:solidFill>
              <a:srgbClr val="E2F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 y="6071616"/>
            <a:ext cx="10744200" cy="182880"/>
          </a:xfrm>
          <a:prstGeom prst="rect">
            <a:avLst/>
          </a:prstGeom>
          <a:noFill/>
        </p:spPr>
        <p:txBody>
          <a:bodyPr wrap="square" lIns="54864" rIns="54864" tIns="54864" bIns="54864" anchor="t">
            <a:spAutoFit/>
          </a:bodyPr>
          <a:lstStyle/>
          <a:p>
            <a:pPr algn="l"/>
            <a:r>
              <a:rPr sz="1000" b="1">
                <a:solidFill>
                  <a:srgbClr val="267354"/>
                </a:solidFill>
                <a:latin typeface="Aptos"/>
              </a:rPr>
              <a:t>KEY IDEA  These are architecture and production-readiness concerns, not blockers for the local development demo.</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1C2B25"/>
        </a:solidFill>
        <a:effectLst/>
      </p:bgPr>
    </p:bg>
    <p:spTree>
      <p:nvGrpSpPr>
        <p:cNvPr id="1" name=""/>
        <p:cNvGrpSpPr/>
        <p:nvPr/>
      </p:nvGrpSpPr>
      <p:grpSpPr/>
      <p:sp>
        <p:nvSpPr>
          <p:cNvPr id="2" name="TextBox 1"/>
          <p:cNvSpPr txBox="1"/>
          <p:nvPr/>
        </p:nvSpPr>
        <p:spPr>
          <a:xfrm>
            <a:off x="502920" y="320040"/>
            <a:ext cx="3383280" cy="256032"/>
          </a:xfrm>
          <a:prstGeom prst="rect">
            <a:avLst/>
          </a:prstGeom>
          <a:noFill/>
        </p:spPr>
        <p:txBody>
          <a:bodyPr wrap="square" lIns="54864" rIns="54864" tIns="54864" bIns="54864" anchor="t">
            <a:spAutoFit/>
          </a:bodyPr>
          <a:lstStyle/>
          <a:p>
            <a:pPr algn="l"/>
            <a:r>
              <a:rPr sz="1000" b="1">
                <a:solidFill>
                  <a:srgbClr val="267354"/>
                </a:solidFill>
                <a:latin typeface="Aptos"/>
              </a:rPr>
              <a:t>RECAP</a:t>
            </a:r>
          </a:p>
        </p:txBody>
      </p:sp>
      <p:sp>
        <p:nvSpPr>
          <p:cNvPr id="3" name="TextBox 2"/>
          <p:cNvSpPr txBox="1"/>
          <p:nvPr/>
        </p:nvSpPr>
        <p:spPr>
          <a:xfrm>
            <a:off x="502920" y="640080"/>
            <a:ext cx="10881360" cy="594360"/>
          </a:xfrm>
          <a:prstGeom prst="rect">
            <a:avLst/>
          </a:prstGeom>
          <a:noFill/>
        </p:spPr>
        <p:txBody>
          <a:bodyPr wrap="square" lIns="54864" rIns="54864" tIns="54864" bIns="54864" anchor="t">
            <a:spAutoFit/>
          </a:bodyPr>
          <a:lstStyle/>
          <a:p>
            <a:pPr algn="l"/>
            <a:r>
              <a:rPr sz="2800" b="1">
                <a:solidFill>
                  <a:srgbClr val="23322D"/>
                </a:solidFill>
                <a:latin typeface="Aptos"/>
              </a:rPr>
              <a:t>The complete mental model</a:t>
            </a:r>
          </a:p>
        </p:txBody>
      </p:sp>
      <p:sp>
        <p:nvSpPr>
          <p:cNvPr id="4" name="TextBox 3"/>
          <p:cNvSpPr txBox="1"/>
          <p:nvPr/>
        </p:nvSpPr>
        <p:spPr>
          <a:xfrm>
            <a:off x="11201400" y="347472"/>
            <a:ext cx="502920" cy="292608"/>
          </a:xfrm>
          <a:prstGeom prst="rect">
            <a:avLst/>
          </a:prstGeom>
          <a:noFill/>
        </p:spPr>
        <p:txBody>
          <a:bodyPr wrap="square" lIns="54864" rIns="54864" tIns="54864" bIns="54864" anchor="t">
            <a:spAutoFit/>
          </a:bodyPr>
          <a:lstStyle/>
          <a:p>
            <a:pPr algn="r"/>
            <a:r>
              <a:rPr sz="1100" b="1">
                <a:solidFill>
                  <a:srgbClr val="67776E"/>
                </a:solidFill>
                <a:latin typeface="Aptos"/>
              </a:rPr>
              <a:t>18</a:t>
            </a:r>
          </a:p>
        </p:txBody>
      </p:sp>
      <p:cxnSp>
        <p:nvCxnSpPr>
          <p:cNvPr id="5" name="Connector 4"/>
          <p:cNvCxnSpPr/>
          <p:nvPr/>
        </p:nvCxnSpPr>
        <p:spPr>
          <a:xfrm>
            <a:off x="502920" y="1353312"/>
            <a:ext cx="11183112" cy="0"/>
          </a:xfrm>
          <a:prstGeom prst="line">
            <a:avLst/>
          </a:prstGeom>
          <a:ln w="12700">
            <a:solidFill>
              <a:srgbClr val="DCE6DF"/>
            </a:solidFill>
          </a:ln>
        </p:spPr>
        <p:style>
          <a:lnRef idx="2">
            <a:schemeClr val="accent1"/>
          </a:lnRef>
          <a:fillRef idx="0">
            <a:schemeClr val="accent1"/>
          </a:fillRef>
          <a:effectRef idx="1">
            <a:schemeClr val="accent1"/>
          </a:effectRef>
          <a:fontRef idx="minor">
            <a:schemeClr val="tx1"/>
          </a:fontRef>
        </p:style>
      </p:cxnSp>
      <p:sp>
        <p:nvSpPr>
          <p:cNvPr id="6" name="TextBox 5"/>
          <p:cNvSpPr txBox="1"/>
          <p:nvPr/>
        </p:nvSpPr>
        <p:spPr>
          <a:xfrm>
            <a:off x="530352" y="6547104"/>
            <a:ext cx="5029200" cy="164592"/>
          </a:xfrm>
          <a:prstGeom prst="rect">
            <a:avLst/>
          </a:prstGeom>
          <a:noFill/>
        </p:spPr>
        <p:txBody>
          <a:bodyPr wrap="square" lIns="54864" rIns="54864" tIns="54864" bIns="54864" anchor="t">
            <a:spAutoFit/>
          </a:bodyPr>
          <a:lstStyle/>
          <a:p>
            <a:pPr algn="l"/>
            <a:r>
              <a:rPr sz="800" b="0">
                <a:solidFill>
                  <a:srgbClr val="67776E"/>
                </a:solidFill>
                <a:latin typeface="Aptos"/>
              </a:rPr>
              <a:t>Grocery Inventory Management</a:t>
            </a:r>
          </a:p>
        </p:txBody>
      </p:sp>
      <p:sp>
        <p:nvSpPr>
          <p:cNvPr id="7" name="TextBox 6"/>
          <p:cNvSpPr txBox="1"/>
          <p:nvPr/>
        </p:nvSpPr>
        <p:spPr>
          <a:xfrm>
            <a:off x="822960" y="1828800"/>
            <a:ext cx="2011680" cy="411480"/>
          </a:xfrm>
          <a:prstGeom prst="rect">
            <a:avLst/>
          </a:prstGeom>
          <a:noFill/>
        </p:spPr>
        <p:txBody>
          <a:bodyPr wrap="square" lIns="54864" rIns="54864" tIns="54864" bIns="54864" anchor="t">
            <a:spAutoFit/>
          </a:bodyPr>
          <a:lstStyle/>
          <a:p>
            <a:pPr algn="ctr"/>
            <a:r>
              <a:rPr sz="2300" b="1">
                <a:solidFill>
                  <a:srgbClr val="FFFFFF"/>
                </a:solidFill>
                <a:latin typeface="Aptos"/>
              </a:rPr>
              <a:t>Browser</a:t>
            </a:r>
          </a:p>
        </p:txBody>
      </p:sp>
      <p:sp>
        <p:nvSpPr>
          <p:cNvPr id="8" name="TextBox 7"/>
          <p:cNvSpPr txBox="1"/>
          <p:nvPr/>
        </p:nvSpPr>
        <p:spPr>
          <a:xfrm>
            <a:off x="777240" y="2423160"/>
            <a:ext cx="2103120" cy="320040"/>
          </a:xfrm>
          <a:prstGeom prst="rect">
            <a:avLst/>
          </a:prstGeom>
          <a:noFill/>
        </p:spPr>
        <p:txBody>
          <a:bodyPr wrap="square" lIns="54864" rIns="54864" tIns="54864" bIns="54864" anchor="t">
            <a:spAutoFit/>
          </a:bodyPr>
          <a:lstStyle/>
          <a:p>
            <a:pPr algn="ctr"/>
            <a:r>
              <a:rPr sz="1500" b="0">
                <a:solidFill>
                  <a:srgbClr val="D3E2D8"/>
                </a:solidFill>
                <a:latin typeface="Aptos"/>
              </a:rPr>
              <a:t>state + render + events</a:t>
            </a:r>
          </a:p>
        </p:txBody>
      </p:sp>
      <p:cxnSp>
        <p:nvCxnSpPr>
          <p:cNvPr id="9" name="Connector 8"/>
          <p:cNvCxnSpPr/>
          <p:nvPr/>
        </p:nvCxnSpPr>
        <p:spPr>
          <a:xfrm>
            <a:off x="2926080" y="2240280"/>
            <a:ext cx="868680" cy="0"/>
          </a:xfrm>
          <a:prstGeom prst="line">
            <a:avLst/>
          </a:prstGeom>
          <a:ln w="25400">
            <a:solidFill>
              <a:srgbClr val="8FD2AA"/>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977639" y="1828800"/>
            <a:ext cx="2011680" cy="411480"/>
          </a:xfrm>
          <a:prstGeom prst="rect">
            <a:avLst/>
          </a:prstGeom>
          <a:noFill/>
        </p:spPr>
        <p:txBody>
          <a:bodyPr wrap="square" lIns="54864" rIns="54864" tIns="54864" bIns="54864" anchor="t">
            <a:spAutoFit/>
          </a:bodyPr>
          <a:lstStyle/>
          <a:p>
            <a:pPr algn="ctr"/>
            <a:r>
              <a:rPr sz="2300" b="1">
                <a:solidFill>
                  <a:srgbClr val="FFFFFF"/>
                </a:solidFill>
                <a:latin typeface="Aptos"/>
              </a:rPr>
              <a:t>Flask API</a:t>
            </a:r>
          </a:p>
        </p:txBody>
      </p:sp>
      <p:sp>
        <p:nvSpPr>
          <p:cNvPr id="11" name="TextBox 10"/>
          <p:cNvSpPr txBox="1"/>
          <p:nvPr/>
        </p:nvSpPr>
        <p:spPr>
          <a:xfrm>
            <a:off x="3931920" y="2423160"/>
            <a:ext cx="2103120" cy="320040"/>
          </a:xfrm>
          <a:prstGeom prst="rect">
            <a:avLst/>
          </a:prstGeom>
          <a:noFill/>
        </p:spPr>
        <p:txBody>
          <a:bodyPr wrap="square" lIns="54864" rIns="54864" tIns="54864" bIns="54864" anchor="t">
            <a:spAutoFit/>
          </a:bodyPr>
          <a:lstStyle/>
          <a:p>
            <a:pPr algn="ctr"/>
            <a:r>
              <a:rPr sz="1500" b="0">
                <a:solidFill>
                  <a:srgbClr val="D3E2D8"/>
                </a:solidFill>
                <a:latin typeface="Aptos"/>
              </a:rPr>
              <a:t>auth + rules + JSON</a:t>
            </a:r>
          </a:p>
        </p:txBody>
      </p:sp>
      <p:cxnSp>
        <p:nvCxnSpPr>
          <p:cNvPr id="12" name="Connector 11"/>
          <p:cNvCxnSpPr/>
          <p:nvPr/>
        </p:nvCxnSpPr>
        <p:spPr>
          <a:xfrm>
            <a:off x="6080760" y="2240280"/>
            <a:ext cx="868680" cy="0"/>
          </a:xfrm>
          <a:prstGeom prst="line">
            <a:avLst/>
          </a:prstGeom>
          <a:ln w="25400">
            <a:solidFill>
              <a:srgbClr val="8FD2AA"/>
            </a:solidFill>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7132320" y="1828800"/>
            <a:ext cx="2011680" cy="411480"/>
          </a:xfrm>
          <a:prstGeom prst="rect">
            <a:avLst/>
          </a:prstGeom>
          <a:noFill/>
        </p:spPr>
        <p:txBody>
          <a:bodyPr wrap="square" lIns="54864" rIns="54864" tIns="54864" bIns="54864" anchor="t">
            <a:spAutoFit/>
          </a:bodyPr>
          <a:lstStyle/>
          <a:p>
            <a:pPr algn="ctr"/>
            <a:r>
              <a:rPr sz="2300" b="1">
                <a:solidFill>
                  <a:srgbClr val="FFFFFF"/>
                </a:solidFill>
                <a:latin typeface="Aptos"/>
              </a:rPr>
              <a:t>Records</a:t>
            </a:r>
          </a:p>
        </p:txBody>
      </p:sp>
      <p:sp>
        <p:nvSpPr>
          <p:cNvPr id="14" name="TextBox 13"/>
          <p:cNvSpPr txBox="1"/>
          <p:nvPr/>
        </p:nvSpPr>
        <p:spPr>
          <a:xfrm>
            <a:off x="6995160" y="2423160"/>
            <a:ext cx="2331720" cy="320040"/>
          </a:xfrm>
          <a:prstGeom prst="rect">
            <a:avLst/>
          </a:prstGeom>
          <a:noFill/>
        </p:spPr>
        <p:txBody>
          <a:bodyPr wrap="square" lIns="54864" rIns="54864" tIns="54864" bIns="54864" anchor="t">
            <a:spAutoFit/>
          </a:bodyPr>
          <a:lstStyle/>
          <a:p>
            <a:pPr algn="ctr"/>
            <a:r>
              <a:rPr sz="1500" b="0">
                <a:solidFill>
                  <a:srgbClr val="D3E2D8"/>
                </a:solidFill>
                <a:latin typeface="Aptos"/>
              </a:rPr>
              <a:t>in-memory today, MySQL later</a:t>
            </a:r>
          </a:p>
        </p:txBody>
      </p:sp>
      <p:sp>
        <p:nvSpPr>
          <p:cNvPr id="15" name="TextBox 14"/>
          <p:cNvSpPr txBox="1"/>
          <p:nvPr/>
        </p:nvSpPr>
        <p:spPr>
          <a:xfrm>
            <a:off x="1234440" y="3886200"/>
            <a:ext cx="9692640" cy="548640"/>
          </a:xfrm>
          <a:prstGeom prst="rect">
            <a:avLst/>
          </a:prstGeom>
          <a:noFill/>
        </p:spPr>
        <p:txBody>
          <a:bodyPr wrap="square" lIns="54864" rIns="54864" tIns="54864" bIns="54864" anchor="t">
            <a:spAutoFit/>
          </a:bodyPr>
          <a:lstStyle/>
          <a:p>
            <a:pPr algn="ctr"/>
            <a:r>
              <a:rPr sz="2300" b="1">
                <a:solidFill>
                  <a:srgbClr val="8FD2AA"/>
                </a:solidFill>
                <a:latin typeface="Aptos"/>
              </a:rPr>
              <a:t>UI action -&gt; API request -&gt; validated change -&gt; refreshed state -&gt; new screen</a:t>
            </a:r>
          </a:p>
        </p:txBody>
      </p:sp>
      <p:sp>
        <p:nvSpPr>
          <p:cNvPr id="16" name="TextBox 15"/>
          <p:cNvSpPr txBox="1"/>
          <p:nvPr/>
        </p:nvSpPr>
        <p:spPr>
          <a:xfrm>
            <a:off x="2103120" y="4754880"/>
            <a:ext cx="7955279" cy="320040"/>
          </a:xfrm>
          <a:prstGeom prst="rect">
            <a:avLst/>
          </a:prstGeom>
          <a:noFill/>
        </p:spPr>
        <p:txBody>
          <a:bodyPr wrap="square" lIns="54864" rIns="54864" tIns="54864" bIns="54864" anchor="t">
            <a:spAutoFit/>
          </a:bodyPr>
          <a:lstStyle/>
          <a:p>
            <a:pPr algn="ctr"/>
            <a:r>
              <a:rPr sz="1700" b="0">
                <a:solidFill>
                  <a:srgbClr val="FFFFFF"/>
                </a:solidFill>
                <a:latin typeface="Aptos"/>
              </a:rPr>
              <a:t>That loop explains nearly every feature in the application.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